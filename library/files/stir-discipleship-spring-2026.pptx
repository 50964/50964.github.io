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316-logo.png"/>
          <p:cNvPicPr>
            <a:picLocks noChangeAspect="1"/>
          </p:cNvPicPr>
          <p:nvPr/>
        </p:nvPicPr>
        <p:blipFill>
          <a:blip r:embed="rId2"/>
          <a:stretch>
            <a:fillRect/>
          </a:stretch>
        </p:blipFill>
        <p:spPr>
          <a:xfrm>
            <a:off x="548640" y="914400"/>
            <a:ext cx="2011680" cy="2011680"/>
          </a:xfrm>
          <a:prstGeom prst="rect">
            <a:avLst/>
          </a:prstGeom>
        </p:spPr>
      </p:pic>
      <p:sp>
        <p:nvSpPr>
          <p:cNvPr id="3" name="TextBox 2"/>
          <p:cNvSpPr txBox="1"/>
          <p:nvPr/>
        </p:nvSpPr>
        <p:spPr>
          <a:xfrm>
            <a:off x="3474720" y="1188720"/>
            <a:ext cx="5303520" cy="822960"/>
          </a:xfrm>
          <a:prstGeom prst="rect">
            <a:avLst/>
          </a:prstGeom>
          <a:noFill/>
        </p:spPr>
        <p:txBody>
          <a:bodyPr wrap="square">
            <a:spAutoFit/>
          </a:bodyPr>
          <a:lstStyle/>
          <a:p>
            <a:pPr algn="l">
              <a:defRPr sz="4400" b="1">
                <a:solidFill>
                  <a:srgbClr val="1A1A1A"/>
                </a:solidFill>
                <a:latin typeface="Arial Black"/>
              </a:defRPr>
            </a:pPr>
            <a:r>
              <a:t>DISCIPLESHIP</a:t>
            </a:r>
          </a:p>
        </p:txBody>
      </p:sp>
      <p:sp>
        <p:nvSpPr>
          <p:cNvPr id="4" name="TextBox 3"/>
          <p:cNvSpPr txBox="1"/>
          <p:nvPr/>
        </p:nvSpPr>
        <p:spPr>
          <a:xfrm>
            <a:off x="3474720" y="1920240"/>
            <a:ext cx="5303520" cy="548640"/>
          </a:xfrm>
          <a:prstGeom prst="rect">
            <a:avLst/>
          </a:prstGeom>
          <a:noFill/>
        </p:spPr>
        <p:txBody>
          <a:bodyPr wrap="square">
            <a:spAutoFit/>
          </a:bodyPr>
          <a:lstStyle/>
          <a:p>
            <a:pPr algn="l">
              <a:defRPr sz="2800" b="1">
                <a:solidFill>
                  <a:srgbClr val="1A1A1A"/>
                </a:solidFill>
                <a:latin typeface="Arial Black"/>
              </a:defRPr>
            </a:pPr>
            <a:r>
              <a:t>SPRING 2026</a:t>
            </a:r>
          </a:p>
        </p:txBody>
      </p:sp>
      <p:sp>
        <p:nvSpPr>
          <p:cNvPr id="5" name="TextBox 4"/>
          <p:cNvSpPr txBox="1"/>
          <p:nvPr/>
        </p:nvSpPr>
        <p:spPr>
          <a:xfrm>
            <a:off x="548640" y="3657600"/>
            <a:ext cx="8046720" cy="731520"/>
          </a:xfrm>
          <a:prstGeom prst="rect">
            <a:avLst/>
          </a:prstGeom>
          <a:noFill/>
        </p:spPr>
        <p:txBody>
          <a:bodyPr wrap="square">
            <a:spAutoFit/>
          </a:bodyPr>
          <a:lstStyle/>
          <a:p>
            <a:pPr algn="l">
              <a:defRPr sz="1300" b="0">
                <a:solidFill>
                  <a:srgbClr val="1A1A1A"/>
                </a:solidFill>
                <a:latin typeface="Arial"/>
              </a:defRPr>
            </a:pPr>
            <a:r>
              <a:t>“FOR THIS REASON I REMIND YOU TO FAN INTO FLAME THE GIFT OF GOD, WHICH IS IN YOU…” 2 TIMOTHY 1:6</a:t>
            </a:r>
          </a:p>
        </p:txBody>
      </p:sp>
      <p:sp>
        <p:nvSpPr>
          <p:cNvPr id="6" name="TextBox 5"/>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7" name="TextBox 6"/>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8" name="TextBox 7"/>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548640"/>
          </a:xfrm>
          <a:prstGeom prst="rect">
            <a:avLst/>
          </a:prstGeom>
          <a:noFill/>
        </p:spPr>
        <p:txBody>
          <a:bodyPr wrap="square">
            <a:spAutoFit/>
          </a:bodyPr>
          <a:lstStyle/>
          <a:p>
            <a:pPr algn="l">
              <a:defRPr sz="2600" b="1">
                <a:solidFill>
                  <a:srgbClr val="1A1A1A"/>
                </a:solidFill>
                <a:latin typeface="Arial Black"/>
              </a:defRPr>
            </a:pPr>
            <a:r>
              <a:t>INTRODUCTION: WHY THESE 6 WEEKS MATTER</a:t>
            </a:r>
          </a:p>
        </p:txBody>
      </p:sp>
      <p:sp>
        <p:nvSpPr>
          <p:cNvPr id="4" name="TextBox 3"/>
          <p:cNvSpPr txBox="1"/>
          <p:nvPr/>
        </p:nvSpPr>
        <p:spPr>
          <a:xfrm>
            <a:off x="457200" y="1051560"/>
            <a:ext cx="8229600" cy="640080"/>
          </a:xfrm>
          <a:prstGeom prst="rect">
            <a:avLst/>
          </a:prstGeom>
          <a:noFill/>
        </p:spPr>
        <p:txBody>
          <a:bodyPr wrap="square">
            <a:spAutoFit/>
          </a:bodyPr>
          <a:lstStyle/>
          <a:p>
            <a:pPr algn="l">
              <a:defRPr sz="1500" b="0">
                <a:solidFill>
                  <a:srgbClr val="1A1A1A"/>
                </a:solidFill>
                <a:latin typeface="Arial"/>
              </a:defRPr>
            </a:pPr>
            <a:r>
              <a:t>Over the next six weeks we are going on a journey together to stir up the spiritual gifts the Holy Spirit has already placed inside every one of us.</a:t>
            </a:r>
          </a:p>
        </p:txBody>
      </p:sp>
      <p:sp>
        <p:nvSpPr>
          <p:cNvPr id="5" name="TextBox 4"/>
          <p:cNvSpPr txBox="1"/>
          <p:nvPr/>
        </p:nvSpPr>
        <p:spPr>
          <a:xfrm>
            <a:off x="457200" y="1691640"/>
            <a:ext cx="8229600" cy="365760"/>
          </a:xfrm>
          <a:prstGeom prst="rect">
            <a:avLst/>
          </a:prstGeom>
          <a:noFill/>
        </p:spPr>
        <p:txBody>
          <a:bodyPr wrap="square">
            <a:spAutoFit/>
          </a:bodyPr>
          <a:lstStyle/>
          <a:p>
            <a:pPr algn="l">
              <a:defRPr sz="1500" b="1">
                <a:solidFill>
                  <a:srgbClr val="1A1A1A"/>
                </a:solidFill>
                <a:latin typeface="Arial"/>
              </a:defRPr>
            </a:pPr>
            <a:r>
              <a:t>This simple, Spirit-led discipleship journey will help you:</a:t>
            </a:r>
          </a:p>
        </p:txBody>
      </p:sp>
      <p:sp>
        <p:nvSpPr>
          <p:cNvPr id="6" name="TextBox 5"/>
          <p:cNvSpPr txBox="1"/>
          <p:nvPr/>
        </p:nvSpPr>
        <p:spPr>
          <a:xfrm>
            <a:off x="457200" y="2103120"/>
            <a:ext cx="8229600" cy="2286000"/>
          </a:xfrm>
          <a:prstGeom prst="rect">
            <a:avLst/>
          </a:prstGeom>
          <a:noFill/>
        </p:spPr>
        <p:txBody>
          <a:bodyPr wrap="square">
            <a:spAutoFit/>
          </a:bodyPr>
          <a:lstStyle/>
          <a:p>
            <a:pPr>
              <a:spcAft>
                <a:spcPts val="600"/>
              </a:spcAft>
              <a:defRPr sz="1600">
                <a:solidFill>
                  <a:srgbClr val="1A1A1A"/>
                </a:solidFill>
                <a:latin typeface="Arial"/>
              </a:defRPr>
            </a:pPr>
            <a:r>
              <a:t>• Discover and recognise the unique gifts God has given you</a:t>
            </a:r>
          </a:p>
          <a:p>
            <a:pPr>
              <a:spcAft>
                <a:spcPts val="600"/>
              </a:spcAft>
              <a:defRPr sz="1600">
                <a:solidFill>
                  <a:srgbClr val="1A1A1A"/>
                </a:solidFill>
                <a:latin typeface="Arial"/>
              </a:defRPr>
            </a:pPr>
            <a:r>
              <a:t>• Develop and stir those gifts through daily encouragement and practice</a:t>
            </a:r>
          </a:p>
          <a:p>
            <a:pPr>
              <a:spcAft>
                <a:spcPts val="600"/>
              </a:spcAft>
              <a:defRPr sz="1600">
                <a:solidFill>
                  <a:srgbClr val="1A1A1A"/>
                </a:solidFill>
                <a:latin typeface="Arial"/>
              </a:defRPr>
            </a:pPr>
            <a:r>
              <a:t>• Deploy your gifts to bless the church family and the world</a:t>
            </a:r>
          </a:p>
          <a:p>
            <a:pPr>
              <a:spcAft>
                <a:spcPts val="600"/>
              </a:spcAft>
              <a:defRPr sz="1600">
                <a:solidFill>
                  <a:srgbClr val="1A1A1A"/>
                </a:solidFill>
                <a:latin typeface="Arial"/>
              </a:defRPr>
            </a:pPr>
            <a:r>
              <a:t>• Overcome anything that quenches the fire</a:t>
            </a:r>
          </a:p>
          <a:p>
            <a:pPr>
              <a:spcAft>
                <a:spcPts val="600"/>
              </a:spcAft>
              <a:defRPr sz="1600">
                <a:solidFill>
                  <a:srgbClr val="1A1A1A"/>
                </a:solidFill>
                <a:latin typeface="Arial"/>
              </a:defRPr>
            </a:pPr>
            <a:r>
              <a:t>• Multiply the gifts by stirring them up in others</a:t>
            </a:r>
          </a:p>
        </p:txBody>
      </p:sp>
      <p:sp>
        <p:nvSpPr>
          <p:cNvPr id="7" name="TextBox 6"/>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8" name="TextBox 7"/>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9" name="TextBox 8"/>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10" name="Picture 9"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3931920" cy="457200"/>
          </a:xfrm>
          <a:prstGeom prst="rect">
            <a:avLst/>
          </a:prstGeom>
          <a:noFill/>
        </p:spPr>
        <p:txBody>
          <a:bodyPr wrap="square">
            <a:spAutoFit/>
          </a:bodyPr>
          <a:lstStyle/>
          <a:p>
            <a:pPr algn="l">
              <a:defRPr sz="2000" b="1">
                <a:solidFill>
                  <a:srgbClr val="1A1A1A"/>
                </a:solidFill>
                <a:latin typeface="Arial"/>
              </a:defRPr>
            </a:pPr>
            <a:r>
              <a:t>HOW THE 6 WEEKS WORK</a:t>
            </a:r>
          </a:p>
        </p:txBody>
      </p:sp>
      <p:sp>
        <p:nvSpPr>
          <p:cNvPr id="4" name="TextBox 3"/>
          <p:cNvSpPr txBox="1"/>
          <p:nvPr/>
        </p:nvSpPr>
        <p:spPr>
          <a:xfrm>
            <a:off x="457200" y="914400"/>
            <a:ext cx="4114800" cy="2011680"/>
          </a:xfrm>
          <a:prstGeom prst="rect">
            <a:avLst/>
          </a:prstGeom>
          <a:noFill/>
        </p:spPr>
        <p:txBody>
          <a:bodyPr wrap="square">
            <a:spAutoFit/>
          </a:bodyPr>
          <a:lstStyle/>
          <a:p>
            <a:pPr>
              <a:spcAft>
                <a:spcPts val="600"/>
              </a:spcAft>
              <a:defRPr sz="1300">
                <a:solidFill>
                  <a:srgbClr val="1A1A1A"/>
                </a:solidFill>
                <a:latin typeface="Arial"/>
              </a:defRPr>
            </a:pPr>
            <a:r>
              <a:t>• Sunday Sermon: the main teaching each week</a:t>
            </a:r>
          </a:p>
          <a:p>
            <a:pPr>
              <a:spcAft>
                <a:spcPts val="600"/>
              </a:spcAft>
              <a:defRPr sz="1300">
                <a:solidFill>
                  <a:srgbClr val="1A1A1A"/>
                </a:solidFill>
                <a:latin typeface="Arial"/>
              </a:defRPr>
            </a:pPr>
            <a:r>
              <a:t>• C316 WhatsApp: Encouragement &amp; community</a:t>
            </a:r>
          </a:p>
          <a:p>
            <a:pPr>
              <a:spcAft>
                <a:spcPts val="600"/>
              </a:spcAft>
              <a:defRPr sz="1300">
                <a:solidFill>
                  <a:srgbClr val="1A1A1A"/>
                </a:solidFill>
                <a:latin typeface="Arial"/>
              </a:defRPr>
            </a:pPr>
            <a:r>
              <a:t>• Midweek Bible Study: Deeper Dive Discipleship</a:t>
            </a:r>
          </a:p>
          <a:p>
            <a:pPr>
              <a:spcAft>
                <a:spcPts val="600"/>
              </a:spcAft>
              <a:defRPr sz="1300">
                <a:solidFill>
                  <a:srgbClr val="1A1A1A"/>
                </a:solidFill>
                <a:latin typeface="Arial"/>
              </a:defRPr>
            </a:pPr>
            <a:r>
              <a:t>• Personal Reflections: Meditate and Journal</a:t>
            </a:r>
          </a:p>
          <a:p>
            <a:pPr>
              <a:spcAft>
                <a:spcPts val="600"/>
              </a:spcAft>
              <a:defRPr sz="1300">
                <a:solidFill>
                  <a:srgbClr val="1A1A1A"/>
                </a:solidFill>
                <a:latin typeface="Arial"/>
              </a:defRPr>
            </a:pPr>
            <a:r>
              <a:t>• Prayer &amp; Partner: Build up one another</a:t>
            </a:r>
          </a:p>
        </p:txBody>
      </p:sp>
      <p:sp>
        <p:nvSpPr>
          <p:cNvPr id="5" name="TextBox 4"/>
          <p:cNvSpPr txBox="1"/>
          <p:nvPr/>
        </p:nvSpPr>
        <p:spPr>
          <a:xfrm>
            <a:off x="4754880" y="411480"/>
            <a:ext cx="4114800" cy="457200"/>
          </a:xfrm>
          <a:prstGeom prst="rect">
            <a:avLst/>
          </a:prstGeom>
          <a:noFill/>
        </p:spPr>
        <p:txBody>
          <a:bodyPr wrap="square">
            <a:spAutoFit/>
          </a:bodyPr>
          <a:lstStyle/>
          <a:p>
            <a:pPr algn="l">
              <a:defRPr sz="1800" b="1">
                <a:solidFill>
                  <a:srgbClr val="E6392D"/>
                </a:solidFill>
                <a:latin typeface="Arial"/>
              </a:defRPr>
            </a:pPr>
            <a:r>
              <a:t>WHAT YOU NEED TO DO &amp; COMMIT TO</a:t>
            </a:r>
          </a:p>
        </p:txBody>
      </p:sp>
      <p:sp>
        <p:nvSpPr>
          <p:cNvPr id="6" name="TextBox 5"/>
          <p:cNvSpPr txBox="1"/>
          <p:nvPr/>
        </p:nvSpPr>
        <p:spPr>
          <a:xfrm>
            <a:off x="4754880" y="914400"/>
            <a:ext cx="4114800" cy="2560320"/>
          </a:xfrm>
          <a:prstGeom prst="rect">
            <a:avLst/>
          </a:prstGeom>
          <a:noFill/>
        </p:spPr>
        <p:txBody>
          <a:bodyPr wrap="square">
            <a:spAutoFit/>
          </a:bodyPr>
          <a:lstStyle/>
          <a:p>
            <a:pPr>
              <a:spcAft>
                <a:spcPts val="600"/>
              </a:spcAft>
              <a:defRPr sz="1200">
                <a:solidFill>
                  <a:srgbClr val="1A1A1A"/>
                </a:solidFill>
                <a:latin typeface="Arial"/>
              </a:defRPr>
            </a:pPr>
            <a:r>
              <a:t>• Attend or watch the Sunday sermon each week.</a:t>
            </a:r>
          </a:p>
          <a:p>
            <a:pPr>
              <a:spcAft>
                <a:spcPts val="600"/>
              </a:spcAft>
              <a:defRPr sz="1200">
                <a:solidFill>
                  <a:srgbClr val="1A1A1A"/>
                </a:solidFill>
                <a:latin typeface="Arial"/>
              </a:defRPr>
            </a:pPr>
            <a:r>
              <a:t>• Open your C316 WhatsApp daily (5–10 minutes).</a:t>
            </a:r>
          </a:p>
          <a:p>
            <a:pPr>
              <a:spcAft>
                <a:spcPts val="600"/>
              </a:spcAft>
              <a:defRPr sz="1200">
                <a:solidFill>
                  <a:srgbClr val="1A1A1A"/>
                </a:solidFill>
                <a:latin typeface="Arial"/>
              </a:defRPr>
            </a:pPr>
            <a:r>
              <a:t>• Work through one Bible study question per week.</a:t>
            </a:r>
          </a:p>
          <a:p>
            <a:pPr>
              <a:spcAft>
                <a:spcPts val="600"/>
              </a:spcAft>
              <a:defRPr sz="1200">
                <a:solidFill>
                  <a:srgbClr val="1A1A1A"/>
                </a:solidFill>
                <a:latin typeface="Arial"/>
              </a:defRPr>
            </a:pPr>
            <a:r>
              <a:t>• Complete the Spiritual Gifts Discovery Tool.</a:t>
            </a:r>
          </a:p>
          <a:p>
            <a:pPr>
              <a:spcAft>
                <a:spcPts val="600"/>
              </a:spcAft>
              <a:defRPr sz="1200">
                <a:solidFill>
                  <a:srgbClr val="1A1A1A"/>
                </a:solidFill>
                <a:latin typeface="Arial"/>
              </a:defRPr>
            </a:pPr>
            <a:r>
              <a:t>• Spend 10–15 minutes most days in Personal Reflections.</a:t>
            </a:r>
          </a:p>
          <a:p>
            <a:pPr>
              <a:spcAft>
                <a:spcPts val="600"/>
              </a:spcAft>
              <a:defRPr sz="1200">
                <a:solidFill>
                  <a:srgbClr val="1A1A1A"/>
                </a:solidFill>
                <a:latin typeface="Arial"/>
              </a:defRPr>
            </a:pPr>
            <a:r>
              <a:t>• Engage with one another</a:t>
            </a:r>
          </a:p>
        </p:txBody>
      </p:sp>
      <p:sp>
        <p:nvSpPr>
          <p:cNvPr id="7" name="TextBox 6"/>
          <p:cNvSpPr txBox="1"/>
          <p:nvPr/>
        </p:nvSpPr>
        <p:spPr>
          <a:xfrm>
            <a:off x="457200" y="3200400"/>
            <a:ext cx="8229600" cy="365760"/>
          </a:xfrm>
          <a:prstGeom prst="rect">
            <a:avLst/>
          </a:prstGeom>
          <a:noFill/>
        </p:spPr>
        <p:txBody>
          <a:bodyPr wrap="square">
            <a:spAutoFit/>
          </a:bodyPr>
          <a:lstStyle/>
          <a:p>
            <a:pPr algn="l">
              <a:defRPr sz="1200" b="1">
                <a:solidFill>
                  <a:srgbClr val="1A1A1A"/>
                </a:solidFill>
                <a:latin typeface="Arial"/>
              </a:defRPr>
            </a:pPr>
            <a:r>
              <a:t>Everything is interwoven with normal C316 life.</a:t>
            </a:r>
          </a:p>
        </p:txBody>
      </p:sp>
      <p:sp>
        <p:nvSpPr>
          <p:cNvPr id="8" name="TextBox 7"/>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9" name="TextBox 8"/>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0" name="TextBox 9"/>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600" b="1">
                <a:solidFill>
                  <a:srgbClr val="E6392D"/>
                </a:solidFill>
                <a:latin typeface="Arial Black"/>
              </a:defRPr>
            </a:pPr>
            <a:r>
              <a:t>WEEK 1: THE GIFT IS IN YOU!</a:t>
            </a:r>
          </a:p>
        </p:txBody>
      </p:sp>
      <p:sp>
        <p:nvSpPr>
          <p:cNvPr id="4" name="TextBox 3"/>
          <p:cNvSpPr txBox="1"/>
          <p:nvPr/>
        </p:nvSpPr>
        <p:spPr>
          <a:xfrm>
            <a:off x="457200" y="914400"/>
            <a:ext cx="8229600" cy="274320"/>
          </a:xfrm>
          <a:prstGeom prst="rect">
            <a:avLst/>
          </a:prstGeom>
          <a:noFill/>
        </p:spPr>
        <p:txBody>
          <a:bodyPr wrap="square">
            <a:spAutoFit/>
          </a:bodyPr>
          <a:lstStyle/>
          <a:p>
            <a:pPr algn="l">
              <a:defRPr sz="1200" b="1">
                <a:solidFill>
                  <a:srgbClr val="1A1A1A"/>
                </a:solidFill>
                <a:latin typeface="Arial"/>
              </a:defRPr>
            </a:pPr>
            <a:r>
              <a:t>Sunday Sermon Main Scripture:</a:t>
            </a:r>
          </a:p>
        </p:txBody>
      </p:sp>
      <p:sp>
        <p:nvSpPr>
          <p:cNvPr id="5" name="Rounded Rectangle 4"/>
          <p:cNvSpPr/>
          <p:nvPr/>
        </p:nvSpPr>
        <p:spPr>
          <a:xfrm>
            <a:off x="457200" y="1188720"/>
            <a:ext cx="5029200" cy="777240"/>
          </a:xfrm>
          <a:prstGeom prst="roundRect">
            <a:avLst/>
          </a:prstGeom>
          <a:solidFill>
            <a:srgbClr val="FFF9E6"/>
          </a:solidFill>
          <a:ln w="3810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80160"/>
            <a:ext cx="4754880" cy="594360"/>
          </a:xfrm>
          <a:prstGeom prst="rect">
            <a:avLst/>
          </a:prstGeom>
          <a:noFill/>
        </p:spPr>
        <p:txBody>
          <a:bodyPr wrap="square">
            <a:spAutoFit/>
          </a:bodyPr>
          <a:lstStyle/>
          <a:p>
            <a:pPr>
              <a:defRPr sz="1100" b="1">
                <a:solidFill>
                  <a:srgbClr val="E6392D"/>
                </a:solidFill>
                <a:latin typeface="Arial"/>
              </a:defRPr>
            </a:pPr>
            <a:r>
              <a:t>2 Timothy 1:6</a:t>
            </a:r>
          </a:p>
          <a:p>
            <a:pPr>
              <a:spcBef>
                <a:spcPts val="400"/>
              </a:spcBef>
              <a:defRPr sz="1200">
                <a:solidFill>
                  <a:srgbClr val="1A1A1A"/>
                </a:solidFill>
                <a:latin typeface="Georgia"/>
              </a:defRPr>
            </a:pPr>
            <a:r>
              <a:t>“For this reason I remind you to fan into flame the gift of God, which is in you…”</a:t>
            </a:r>
          </a:p>
        </p:txBody>
      </p:sp>
      <p:sp>
        <p:nvSpPr>
          <p:cNvPr id="7" name="Rounded Rectangle 6"/>
          <p:cNvSpPr/>
          <p:nvPr/>
        </p:nvSpPr>
        <p:spPr>
          <a:xfrm>
            <a:off x="457200" y="2057400"/>
            <a:ext cx="5029200" cy="777240"/>
          </a:xfrm>
          <a:prstGeom prst="roundRect">
            <a:avLst/>
          </a:prstGeom>
          <a:solidFill>
            <a:srgbClr val="FFF9E6"/>
          </a:solidFill>
          <a:ln w="3810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4754880" cy="594360"/>
          </a:xfrm>
          <a:prstGeom prst="rect">
            <a:avLst/>
          </a:prstGeom>
          <a:noFill/>
        </p:spPr>
        <p:txBody>
          <a:bodyPr wrap="square">
            <a:spAutoFit/>
          </a:bodyPr>
          <a:lstStyle/>
          <a:p>
            <a:pPr>
              <a:defRPr sz="1100" b="1">
                <a:solidFill>
                  <a:srgbClr val="E6392D"/>
                </a:solidFill>
                <a:latin typeface="Arial"/>
              </a:defRPr>
            </a:pPr>
            <a:r>
              <a:t>James 1:5</a:t>
            </a:r>
          </a:p>
          <a:p>
            <a:pPr>
              <a:spcBef>
                <a:spcPts val="400"/>
              </a:spcBef>
              <a:defRPr sz="1200">
                <a:solidFill>
                  <a:srgbClr val="1A1A1A"/>
                </a:solidFill>
                <a:latin typeface="Georgia"/>
              </a:defRPr>
            </a:pPr>
            <a:r>
              <a:t>“If any of you lacks wisdom, you should ask God, who gives generously to all without finding fault, and it will be given to you.”</a:t>
            </a:r>
          </a:p>
        </p:txBody>
      </p:sp>
      <p:sp>
        <p:nvSpPr>
          <p:cNvPr id="9" name="TextBox 8"/>
          <p:cNvSpPr txBox="1"/>
          <p:nvPr/>
        </p:nvSpPr>
        <p:spPr>
          <a:xfrm>
            <a:off x="457200" y="2926080"/>
            <a:ext cx="8229600" cy="274320"/>
          </a:xfrm>
          <a:prstGeom prst="rect">
            <a:avLst/>
          </a:prstGeom>
          <a:noFill/>
        </p:spPr>
        <p:txBody>
          <a:bodyPr wrap="square">
            <a:spAutoFit/>
          </a:bodyPr>
          <a:lstStyle/>
          <a:p>
            <a:pPr algn="l">
              <a:defRPr sz="1300" b="1">
                <a:solidFill>
                  <a:srgbClr val="1A1A1A"/>
                </a:solidFill>
                <a:latin typeface="Arial"/>
              </a:defRPr>
            </a:pPr>
            <a:r>
              <a:t>Three Points to Ponder:</a:t>
            </a:r>
          </a:p>
        </p:txBody>
      </p:sp>
      <p:sp>
        <p:nvSpPr>
          <p:cNvPr id="10" name="TextBox 9"/>
          <p:cNvSpPr txBox="1"/>
          <p:nvPr/>
        </p:nvSpPr>
        <p:spPr>
          <a:xfrm>
            <a:off x="457200" y="3200400"/>
            <a:ext cx="8229600" cy="1371600"/>
          </a:xfrm>
          <a:prstGeom prst="rect">
            <a:avLst/>
          </a:prstGeom>
          <a:noFill/>
        </p:spPr>
        <p:txBody>
          <a:bodyPr wrap="square">
            <a:spAutoFit/>
          </a:bodyPr>
          <a:lstStyle/>
          <a:p>
            <a:pPr>
              <a:spcAft>
                <a:spcPts val="600"/>
              </a:spcAft>
              <a:defRPr sz="1300">
                <a:solidFill>
                  <a:srgbClr val="1A1A1A"/>
                </a:solidFill>
                <a:latin typeface="Arial"/>
              </a:defRPr>
            </a:pPr>
            <a:r>
              <a:t>• 1. God has already placed gifts inside every believer — they are not earned, they are received by the Holy Spirit.</a:t>
            </a:r>
          </a:p>
          <a:p>
            <a:pPr>
              <a:spcAft>
                <a:spcPts val="600"/>
              </a:spcAft>
              <a:defRPr sz="1300">
                <a:solidFill>
                  <a:srgbClr val="1A1A1A"/>
                </a:solidFill>
                <a:latin typeface="Arial"/>
              </a:defRPr>
            </a:pPr>
            <a:r>
              <a:t>• 2. Many gifts stay hidden because we don’t ask God to show us what they are.</a:t>
            </a:r>
          </a:p>
          <a:p>
            <a:pPr>
              <a:spcAft>
                <a:spcPts val="600"/>
              </a:spcAft>
              <a:defRPr sz="1300">
                <a:solidFill>
                  <a:srgbClr val="1A1A1A"/>
                </a:solidFill>
                <a:latin typeface="Arial"/>
              </a:defRPr>
            </a:pPr>
            <a:r>
              <a:t>• 3. We can confidently ask God for wisdom (James 1:5) and He promises to reveal them generously.</a:t>
            </a:r>
          </a:p>
        </p:txBody>
      </p:sp>
      <p:sp>
        <p:nvSpPr>
          <p:cNvPr id="11" name="Rounded Rectangle 10"/>
          <p:cNvSpPr/>
          <p:nvPr/>
        </p:nvSpPr>
        <p:spPr>
          <a:xfrm>
            <a:off x="457200" y="4572000"/>
            <a:ext cx="4572000" cy="36576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617720"/>
            <a:ext cx="4389120" cy="320040"/>
          </a:xfrm>
          <a:prstGeom prst="rect">
            <a:avLst/>
          </a:prstGeom>
          <a:noFill/>
        </p:spPr>
        <p:txBody>
          <a:bodyPr wrap="square">
            <a:spAutoFit/>
          </a:bodyPr>
          <a:lstStyle/>
          <a:p>
            <a:pPr>
              <a:defRPr sz="1100" b="1">
                <a:solidFill>
                  <a:srgbClr val="1A1A1A"/>
                </a:solidFill>
                <a:latin typeface="Arial"/>
              </a:defRPr>
            </a:pPr>
            <a:r>
              <a:t>TAKE AWAY: THE GIFT IS IN YOU!</a:t>
            </a:r>
          </a:p>
        </p:txBody>
      </p:sp>
      <p:sp>
        <p:nvSpPr>
          <p:cNvPr id="13" name="TextBox 12"/>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4" name="TextBox 13"/>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5" name="TextBox 14"/>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16" name="Picture 15"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400" b="1">
                <a:solidFill>
                  <a:srgbClr val="1A1A1A"/>
                </a:solidFill>
                <a:latin typeface="Arial"/>
              </a:defRPr>
            </a:pPr>
            <a:r>
              <a:t>DOES EVERYONE HAVE A SPIRITUAL GIFT?</a:t>
            </a:r>
          </a:p>
        </p:txBody>
      </p:sp>
      <p:sp>
        <p:nvSpPr>
          <p:cNvPr id="4" name="TextBox 3"/>
          <p:cNvSpPr txBox="1"/>
          <p:nvPr/>
        </p:nvSpPr>
        <p:spPr>
          <a:xfrm>
            <a:off x="457200" y="868680"/>
            <a:ext cx="8229600" cy="457200"/>
          </a:xfrm>
          <a:prstGeom prst="rect">
            <a:avLst/>
          </a:prstGeom>
          <a:noFill/>
        </p:spPr>
        <p:txBody>
          <a:bodyPr wrap="square">
            <a:spAutoFit/>
          </a:bodyPr>
          <a:lstStyle/>
          <a:p>
            <a:pPr algn="l">
              <a:defRPr sz="3600" b="1">
                <a:solidFill>
                  <a:srgbClr val="E6392D"/>
                </a:solidFill>
                <a:latin typeface="Arial Black"/>
              </a:defRPr>
            </a:pPr>
            <a:r>
              <a:t>YES!</a:t>
            </a:r>
          </a:p>
        </p:txBody>
      </p:sp>
      <p:sp>
        <p:nvSpPr>
          <p:cNvPr id="5" name="TextBox 4"/>
          <p:cNvSpPr txBox="1"/>
          <p:nvPr/>
        </p:nvSpPr>
        <p:spPr>
          <a:xfrm>
            <a:off x="457200" y="1463040"/>
            <a:ext cx="8229600" cy="274320"/>
          </a:xfrm>
          <a:prstGeom prst="rect">
            <a:avLst/>
          </a:prstGeom>
          <a:noFill/>
        </p:spPr>
        <p:txBody>
          <a:bodyPr wrap="square">
            <a:spAutoFit/>
          </a:bodyPr>
          <a:lstStyle/>
          <a:p>
            <a:pPr algn="l">
              <a:defRPr sz="1200" b="1">
                <a:solidFill>
                  <a:srgbClr val="E6392D"/>
                </a:solidFill>
                <a:latin typeface="Arial"/>
              </a:defRPr>
            </a:pPr>
            <a:r>
              <a:t>1 Corinthians 12:7</a:t>
            </a:r>
          </a:p>
        </p:txBody>
      </p:sp>
      <p:sp>
        <p:nvSpPr>
          <p:cNvPr id="6" name="TextBox 5"/>
          <p:cNvSpPr txBox="1"/>
          <p:nvPr/>
        </p:nvSpPr>
        <p:spPr>
          <a:xfrm>
            <a:off x="457200" y="1719072"/>
            <a:ext cx="8229600" cy="457200"/>
          </a:xfrm>
          <a:prstGeom prst="rect">
            <a:avLst/>
          </a:prstGeom>
          <a:noFill/>
        </p:spPr>
        <p:txBody>
          <a:bodyPr wrap="square">
            <a:spAutoFit/>
          </a:bodyPr>
          <a:lstStyle/>
          <a:p>
            <a:pPr algn="l">
              <a:defRPr sz="1300" b="0">
                <a:solidFill>
                  <a:srgbClr val="1A1A1A"/>
                </a:solidFill>
                <a:latin typeface="Arial"/>
              </a:defRPr>
            </a:pPr>
            <a:r>
              <a:t>“To each is given the manifestation of the Spirit for the common good.”</a:t>
            </a:r>
          </a:p>
        </p:txBody>
      </p:sp>
      <p:sp>
        <p:nvSpPr>
          <p:cNvPr id="7" name="TextBox 6"/>
          <p:cNvSpPr txBox="1"/>
          <p:nvPr/>
        </p:nvSpPr>
        <p:spPr>
          <a:xfrm>
            <a:off x="457200" y="2240280"/>
            <a:ext cx="8229600" cy="274320"/>
          </a:xfrm>
          <a:prstGeom prst="rect">
            <a:avLst/>
          </a:prstGeom>
          <a:noFill/>
        </p:spPr>
        <p:txBody>
          <a:bodyPr wrap="square">
            <a:spAutoFit/>
          </a:bodyPr>
          <a:lstStyle/>
          <a:p>
            <a:pPr algn="l">
              <a:defRPr sz="1200" b="1">
                <a:solidFill>
                  <a:srgbClr val="E6392D"/>
                </a:solidFill>
                <a:latin typeface="Arial"/>
              </a:defRPr>
            </a:pPr>
            <a:r>
              <a:t>1 Corinthians 12:11</a:t>
            </a:r>
          </a:p>
        </p:txBody>
      </p:sp>
      <p:sp>
        <p:nvSpPr>
          <p:cNvPr id="8" name="TextBox 7"/>
          <p:cNvSpPr txBox="1"/>
          <p:nvPr/>
        </p:nvSpPr>
        <p:spPr>
          <a:xfrm>
            <a:off x="457200" y="2496312"/>
            <a:ext cx="8229600" cy="457200"/>
          </a:xfrm>
          <a:prstGeom prst="rect">
            <a:avLst/>
          </a:prstGeom>
          <a:noFill/>
        </p:spPr>
        <p:txBody>
          <a:bodyPr wrap="square">
            <a:spAutoFit/>
          </a:bodyPr>
          <a:lstStyle/>
          <a:p>
            <a:pPr algn="l">
              <a:defRPr sz="1300" b="0">
                <a:solidFill>
                  <a:srgbClr val="1A1A1A"/>
                </a:solidFill>
                <a:latin typeface="Arial"/>
              </a:defRPr>
            </a:pPr>
            <a:r>
              <a:t>“All these are empowered by one and the same Spirit, who apportions to each one individually as he wills.”</a:t>
            </a:r>
          </a:p>
        </p:txBody>
      </p:sp>
      <p:sp>
        <p:nvSpPr>
          <p:cNvPr id="9" name="TextBox 8"/>
          <p:cNvSpPr txBox="1"/>
          <p:nvPr/>
        </p:nvSpPr>
        <p:spPr>
          <a:xfrm>
            <a:off x="457200" y="3017520"/>
            <a:ext cx="8229600" cy="274320"/>
          </a:xfrm>
          <a:prstGeom prst="rect">
            <a:avLst/>
          </a:prstGeom>
          <a:noFill/>
        </p:spPr>
        <p:txBody>
          <a:bodyPr wrap="square">
            <a:spAutoFit/>
          </a:bodyPr>
          <a:lstStyle/>
          <a:p>
            <a:pPr algn="l">
              <a:defRPr sz="1200" b="1">
                <a:solidFill>
                  <a:srgbClr val="E6392D"/>
                </a:solidFill>
                <a:latin typeface="Arial"/>
              </a:defRPr>
            </a:pPr>
            <a:r>
              <a:t>1 Peter 4:10</a:t>
            </a:r>
          </a:p>
        </p:txBody>
      </p:sp>
      <p:sp>
        <p:nvSpPr>
          <p:cNvPr id="10" name="TextBox 9"/>
          <p:cNvSpPr txBox="1"/>
          <p:nvPr/>
        </p:nvSpPr>
        <p:spPr>
          <a:xfrm>
            <a:off x="457200" y="3273552"/>
            <a:ext cx="8229600" cy="457200"/>
          </a:xfrm>
          <a:prstGeom prst="rect">
            <a:avLst/>
          </a:prstGeom>
          <a:noFill/>
        </p:spPr>
        <p:txBody>
          <a:bodyPr wrap="square">
            <a:spAutoFit/>
          </a:bodyPr>
          <a:lstStyle/>
          <a:p>
            <a:pPr algn="l">
              <a:defRPr sz="1300" b="0">
                <a:solidFill>
                  <a:srgbClr val="1A1A1A"/>
                </a:solidFill>
                <a:latin typeface="Arial"/>
              </a:defRPr>
            </a:pPr>
            <a:r>
              <a:t>“As each has received a gift, use it to serve one another, as good stewards of God’s varied grace.”</a:t>
            </a:r>
          </a:p>
        </p:txBody>
      </p:sp>
      <p:sp>
        <p:nvSpPr>
          <p:cNvPr id="11" name="TextBox 10"/>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2" name="TextBox 11"/>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3" name="TextBox 12"/>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14" name="Picture 13"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200" b="1">
                <a:solidFill>
                  <a:srgbClr val="1A1A1A"/>
                </a:solidFill>
                <a:latin typeface="Arial"/>
              </a:defRPr>
            </a:pPr>
            <a:r>
              <a:t>WEEK 1: HOW THE GIFT WAS RECEIVED</a:t>
            </a:r>
          </a:p>
        </p:txBody>
      </p:sp>
      <p:sp>
        <p:nvSpPr>
          <p:cNvPr id="4" name="TextBox 3"/>
          <p:cNvSpPr txBox="1"/>
          <p:nvPr/>
        </p:nvSpPr>
        <p:spPr>
          <a:xfrm>
            <a:off x="457200" y="914400"/>
            <a:ext cx="8229600" cy="365760"/>
          </a:xfrm>
          <a:prstGeom prst="rect">
            <a:avLst/>
          </a:prstGeom>
          <a:noFill/>
        </p:spPr>
        <p:txBody>
          <a:bodyPr wrap="square">
            <a:spAutoFit/>
          </a:bodyPr>
          <a:lstStyle/>
          <a:p>
            <a:pPr algn="l">
              <a:defRPr sz="1600" b="1">
                <a:solidFill>
                  <a:srgbClr val="E6392D"/>
                </a:solidFill>
                <a:latin typeface="Arial"/>
              </a:defRPr>
            </a:pPr>
            <a:r>
              <a:t>“S’MIKHAH” (LAYING ON OF HANDS)</a:t>
            </a:r>
          </a:p>
        </p:txBody>
      </p:sp>
      <p:sp>
        <p:nvSpPr>
          <p:cNvPr id="5" name="Rounded Rectangle 4"/>
          <p:cNvSpPr/>
          <p:nvPr/>
        </p:nvSpPr>
        <p:spPr>
          <a:xfrm>
            <a:off x="457200" y="1371600"/>
            <a:ext cx="8229600" cy="822960"/>
          </a:xfrm>
          <a:prstGeom prst="roundRect">
            <a:avLst/>
          </a:prstGeom>
          <a:solidFill>
            <a:srgbClr val="FFF9E6"/>
          </a:solidFill>
          <a:ln w="3810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63040"/>
            <a:ext cx="7955280" cy="640080"/>
          </a:xfrm>
          <a:prstGeom prst="rect">
            <a:avLst/>
          </a:prstGeom>
          <a:noFill/>
        </p:spPr>
        <p:txBody>
          <a:bodyPr wrap="square">
            <a:spAutoFit/>
          </a:bodyPr>
          <a:lstStyle/>
          <a:p>
            <a:pPr>
              <a:defRPr sz="1100" b="1">
                <a:solidFill>
                  <a:srgbClr val="E6392D"/>
                </a:solidFill>
                <a:latin typeface="Arial"/>
              </a:defRPr>
            </a:pPr>
            <a:r>
              <a:t>2 Timothy 1:6</a:t>
            </a:r>
          </a:p>
          <a:p>
            <a:pPr>
              <a:spcBef>
                <a:spcPts val="400"/>
              </a:spcBef>
              <a:defRPr sz="1200">
                <a:solidFill>
                  <a:srgbClr val="1A1A1A"/>
                </a:solidFill>
                <a:latin typeface="Georgia"/>
              </a:defRPr>
            </a:pPr>
            <a:r>
              <a:t>For this reason, I am reminding you to fan the flame of God’s gift, which you received through s’mikhah from me.</a:t>
            </a:r>
          </a:p>
        </p:txBody>
      </p:sp>
      <p:sp>
        <p:nvSpPr>
          <p:cNvPr id="7" name="TextBox 6"/>
          <p:cNvSpPr txBox="1"/>
          <p:nvPr/>
        </p:nvSpPr>
        <p:spPr>
          <a:xfrm>
            <a:off x="457200" y="2377440"/>
            <a:ext cx="8229600" cy="1097280"/>
          </a:xfrm>
          <a:prstGeom prst="rect">
            <a:avLst/>
          </a:prstGeom>
          <a:noFill/>
        </p:spPr>
        <p:txBody>
          <a:bodyPr wrap="square">
            <a:spAutoFit/>
          </a:bodyPr>
          <a:lstStyle/>
          <a:p>
            <a:pPr algn="l">
              <a:defRPr sz="1400" b="0">
                <a:solidFill>
                  <a:srgbClr val="1A1A1A"/>
                </a:solidFill>
                <a:latin typeface="Arial"/>
              </a:defRPr>
            </a:pPr>
            <a:r>
              <a:t>The gift is received — not earned. Paul reminds Timothy of the impartation through the laying on of hands (s’mikhah). The Holy Spirit’s gifts often come through the faith-filled prayers and commissioning of leaders and the church family.</a:t>
            </a:r>
          </a:p>
        </p:txBody>
      </p:sp>
      <p:sp>
        <p:nvSpPr>
          <p:cNvPr id="8" name="Rounded Rectangle 7"/>
          <p:cNvSpPr/>
          <p:nvPr/>
        </p:nvSpPr>
        <p:spPr>
          <a:xfrm>
            <a:off x="457200" y="3657600"/>
            <a:ext cx="8229600" cy="36576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703320"/>
            <a:ext cx="8046720" cy="320040"/>
          </a:xfrm>
          <a:prstGeom prst="rect">
            <a:avLst/>
          </a:prstGeom>
          <a:noFill/>
        </p:spPr>
        <p:txBody>
          <a:bodyPr wrap="square">
            <a:spAutoFit/>
          </a:bodyPr>
          <a:lstStyle/>
          <a:p>
            <a:pPr>
              <a:defRPr sz="1100" b="1">
                <a:solidFill>
                  <a:srgbClr val="1A1A1A"/>
                </a:solidFill>
                <a:latin typeface="Arial"/>
              </a:defRPr>
            </a:pPr>
            <a:r>
              <a:t>POINT: THE GIFT IS ALREADY IN YOU — RECEIVED BY THE HOLY SPIRIT</a:t>
            </a:r>
          </a:p>
        </p:txBody>
      </p:sp>
      <p:sp>
        <p:nvSpPr>
          <p:cNvPr id="10" name="Rounded Rectangle 9"/>
          <p:cNvSpPr/>
          <p:nvPr/>
        </p:nvSpPr>
        <p:spPr>
          <a:xfrm>
            <a:off x="457200" y="4206240"/>
            <a:ext cx="8229600" cy="411480"/>
          </a:xfrm>
          <a:prstGeom prst="roundRect">
            <a:avLst/>
          </a:prstGeom>
          <a:solidFill>
            <a:srgbClr val="E63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4279392"/>
            <a:ext cx="8010144" cy="320040"/>
          </a:xfrm>
          <a:prstGeom prst="rect">
            <a:avLst/>
          </a:prstGeom>
          <a:noFill/>
        </p:spPr>
        <p:txBody>
          <a:bodyPr wrap="square">
            <a:spAutoFit/>
          </a:bodyPr>
          <a:lstStyle/>
          <a:p>
            <a:pPr algn="ctr">
              <a:defRPr sz="1300" b="1">
                <a:solidFill>
                  <a:srgbClr val="FFFFFF"/>
                </a:solidFill>
                <a:latin typeface="Arial"/>
              </a:defRPr>
            </a:pPr>
            <a:r>
              <a:t>I RECEIVED THE GIFT THROUGH THE HOLY SPIRIT — I WILL FAN IT INTO FLAME</a:t>
            </a:r>
          </a:p>
        </p:txBody>
      </p:sp>
      <p:pic>
        <p:nvPicPr>
          <p:cNvPr id="12" name="Picture 11" descr="c316-logo.png"/>
          <p:cNvPicPr>
            <a:picLocks noChangeAspect="1"/>
          </p:cNvPicPr>
          <p:nvPr/>
        </p:nvPicPr>
        <p:blipFill>
          <a:blip r:embed="rId2"/>
          <a:stretch>
            <a:fillRect/>
          </a:stretch>
        </p:blipFill>
        <p:spPr>
          <a:xfrm>
            <a:off x="7955279" y="109728"/>
            <a:ext cx="777240" cy="777240"/>
          </a:xfrm>
          <a:prstGeom prst="rect">
            <a:avLst/>
          </a:prstGeom>
        </p:spPr>
      </p:pic>
      <p:sp>
        <p:nvSpPr>
          <p:cNvPr id="13" name="TextBox 12"/>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4" name="TextBox 13"/>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5" name="TextBox 14"/>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400" b="1">
                <a:solidFill>
                  <a:srgbClr val="1A1A1A"/>
                </a:solidFill>
                <a:latin typeface="Arial"/>
              </a:defRPr>
            </a:pPr>
            <a:r>
              <a:t>WEEK 2: DISCOVERING YOUR UNIQUE GIFT</a:t>
            </a:r>
          </a:p>
        </p:txBody>
      </p:sp>
      <p:sp>
        <p:nvSpPr>
          <p:cNvPr id="4" name="Rounded Rectangle 3"/>
          <p:cNvSpPr/>
          <p:nvPr/>
        </p:nvSpPr>
        <p:spPr>
          <a:xfrm>
            <a:off x="457200" y="960120"/>
            <a:ext cx="8229600" cy="1463040"/>
          </a:xfrm>
          <a:prstGeom prst="roundRect">
            <a:avLst/>
          </a:prstGeom>
          <a:solidFill>
            <a:srgbClr val="FFF9E6"/>
          </a:solidFill>
          <a:ln w="3810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51560"/>
            <a:ext cx="7955280" cy="1280160"/>
          </a:xfrm>
          <a:prstGeom prst="rect">
            <a:avLst/>
          </a:prstGeom>
          <a:noFill/>
        </p:spPr>
        <p:txBody>
          <a:bodyPr wrap="square">
            <a:spAutoFit/>
          </a:bodyPr>
          <a:lstStyle/>
          <a:p>
            <a:pPr>
              <a:defRPr sz="1100" b="1">
                <a:solidFill>
                  <a:srgbClr val="E6392D"/>
                </a:solidFill>
                <a:latin typeface="Arial"/>
              </a:defRPr>
            </a:pPr>
            <a:r>
              <a:t>Romans 12:6-8 (Main Scripture)</a:t>
            </a:r>
          </a:p>
          <a:p>
            <a:pPr>
              <a:spcBef>
                <a:spcPts val="400"/>
              </a:spcBef>
              <a:defRPr sz="1200">
                <a:solidFill>
                  <a:srgbClr val="1A1A1A"/>
                </a:solidFill>
                <a:latin typeface="Georgia"/>
              </a:defRPr>
            </a:pPr>
            <a:r>
              <a:t>But we have gifts that differ and which are meant to be used according to the grace that has been given to us. If your gift is prophecy, use it to the extent of your trust; if it is serving, use it to serve; if you are a teacher, use your gift in teaching; if you are a counselor, use your gift to comfort and exhort; if you are someone who gives, do it simply and generously; if you are in a position of leadership, lead with diligence and zeal; if you are one who does acts of mercy, do them cheerfully.</a:t>
            </a:r>
          </a:p>
        </p:txBody>
      </p:sp>
      <p:sp>
        <p:nvSpPr>
          <p:cNvPr id="6" name="Rounded Rectangle 5"/>
          <p:cNvSpPr/>
          <p:nvPr/>
        </p:nvSpPr>
        <p:spPr>
          <a:xfrm>
            <a:off x="457200" y="2560320"/>
            <a:ext cx="8229600" cy="347472"/>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606040"/>
            <a:ext cx="8046720" cy="301752"/>
          </a:xfrm>
          <a:prstGeom prst="rect">
            <a:avLst/>
          </a:prstGeom>
          <a:noFill/>
        </p:spPr>
        <p:txBody>
          <a:bodyPr wrap="square">
            <a:spAutoFit/>
          </a:bodyPr>
          <a:lstStyle/>
          <a:p>
            <a:pPr>
              <a:defRPr sz="1100" b="1">
                <a:solidFill>
                  <a:srgbClr val="1A1A1A"/>
                </a:solidFill>
                <a:latin typeface="Arial"/>
              </a:defRPr>
            </a:pPr>
            <a:r>
              <a:t>THE SEVEN GIFTS (WITH GOD’S SPECIFIC INSTRUCTIONS)</a:t>
            </a:r>
          </a:p>
        </p:txBody>
      </p:sp>
      <p:sp>
        <p:nvSpPr>
          <p:cNvPr id="8" name="Rounded Rectangle 7"/>
          <p:cNvSpPr/>
          <p:nvPr/>
        </p:nvSpPr>
        <p:spPr>
          <a:xfrm>
            <a:off x="457200" y="2971800"/>
            <a:ext cx="8229600" cy="292608"/>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017520"/>
            <a:ext cx="8046720" cy="246888"/>
          </a:xfrm>
          <a:prstGeom prst="rect">
            <a:avLst/>
          </a:prstGeom>
          <a:noFill/>
        </p:spPr>
        <p:txBody>
          <a:bodyPr wrap="square">
            <a:spAutoFit/>
          </a:bodyPr>
          <a:lstStyle/>
          <a:p>
            <a:pPr>
              <a:defRPr sz="1100" b="1">
                <a:solidFill>
                  <a:srgbClr val="1A1A1A"/>
                </a:solidFill>
                <a:latin typeface="Arial"/>
              </a:defRPr>
            </a:pPr>
            <a:r>
              <a:t>PROPHECY — USE IT TO THE EXTENT OF YOUR TRUST (IN PROPORTION TO YOUR FAITH)</a:t>
            </a:r>
          </a:p>
        </p:txBody>
      </p:sp>
      <p:sp>
        <p:nvSpPr>
          <p:cNvPr id="10" name="Rounded Rectangle 9"/>
          <p:cNvSpPr/>
          <p:nvPr/>
        </p:nvSpPr>
        <p:spPr>
          <a:xfrm>
            <a:off x="457200" y="3300984"/>
            <a:ext cx="8229600" cy="292608"/>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346704"/>
            <a:ext cx="8046720" cy="246888"/>
          </a:xfrm>
          <a:prstGeom prst="rect">
            <a:avLst/>
          </a:prstGeom>
          <a:noFill/>
        </p:spPr>
        <p:txBody>
          <a:bodyPr wrap="square">
            <a:spAutoFit/>
          </a:bodyPr>
          <a:lstStyle/>
          <a:p>
            <a:pPr>
              <a:defRPr sz="1100" b="1">
                <a:solidFill>
                  <a:srgbClr val="1A1A1A"/>
                </a:solidFill>
                <a:latin typeface="Arial"/>
              </a:defRPr>
            </a:pPr>
            <a:r>
              <a:t>SERVING — USE IT TO SERVE</a:t>
            </a:r>
          </a:p>
        </p:txBody>
      </p:sp>
      <p:sp>
        <p:nvSpPr>
          <p:cNvPr id="12" name="Rounded Rectangle 11"/>
          <p:cNvSpPr/>
          <p:nvPr/>
        </p:nvSpPr>
        <p:spPr>
          <a:xfrm>
            <a:off x="457200" y="3630168"/>
            <a:ext cx="8229600" cy="292608"/>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675888"/>
            <a:ext cx="8046720" cy="246888"/>
          </a:xfrm>
          <a:prstGeom prst="rect">
            <a:avLst/>
          </a:prstGeom>
          <a:noFill/>
        </p:spPr>
        <p:txBody>
          <a:bodyPr wrap="square">
            <a:spAutoFit/>
          </a:bodyPr>
          <a:lstStyle/>
          <a:p>
            <a:pPr>
              <a:defRPr sz="1100" b="1">
                <a:solidFill>
                  <a:srgbClr val="1A1A1A"/>
                </a:solidFill>
                <a:latin typeface="Arial"/>
              </a:defRPr>
            </a:pPr>
            <a:r>
              <a:t>TEACHING — USE YOUR GIFT IN TEACHING</a:t>
            </a:r>
          </a:p>
        </p:txBody>
      </p:sp>
      <p:sp>
        <p:nvSpPr>
          <p:cNvPr id="14" name="Rounded Rectangle 13"/>
          <p:cNvSpPr/>
          <p:nvPr/>
        </p:nvSpPr>
        <p:spPr>
          <a:xfrm>
            <a:off x="457200" y="3959352"/>
            <a:ext cx="8229600" cy="292608"/>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005072"/>
            <a:ext cx="8046720" cy="246888"/>
          </a:xfrm>
          <a:prstGeom prst="rect">
            <a:avLst/>
          </a:prstGeom>
          <a:noFill/>
        </p:spPr>
        <p:txBody>
          <a:bodyPr wrap="square">
            <a:spAutoFit/>
          </a:bodyPr>
          <a:lstStyle/>
          <a:p>
            <a:pPr>
              <a:defRPr sz="1100" b="1">
                <a:solidFill>
                  <a:srgbClr val="1A1A1A"/>
                </a:solidFill>
                <a:latin typeface="Arial"/>
              </a:defRPr>
            </a:pPr>
            <a:r>
              <a:t>COUNSELING / EXHORTATION — USE YOUR GIFT TO COMFORT AND EXHORT</a:t>
            </a:r>
          </a:p>
        </p:txBody>
      </p:sp>
      <p:sp>
        <p:nvSpPr>
          <p:cNvPr id="16" name="Rounded Rectangle 15"/>
          <p:cNvSpPr/>
          <p:nvPr/>
        </p:nvSpPr>
        <p:spPr>
          <a:xfrm>
            <a:off x="457200" y="4288536"/>
            <a:ext cx="8229600" cy="292608"/>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334256"/>
            <a:ext cx="8046720" cy="246888"/>
          </a:xfrm>
          <a:prstGeom prst="rect">
            <a:avLst/>
          </a:prstGeom>
          <a:noFill/>
        </p:spPr>
        <p:txBody>
          <a:bodyPr wrap="square">
            <a:spAutoFit/>
          </a:bodyPr>
          <a:lstStyle/>
          <a:p>
            <a:pPr>
              <a:defRPr sz="1100" b="1">
                <a:solidFill>
                  <a:srgbClr val="1A1A1A"/>
                </a:solidFill>
                <a:latin typeface="Arial"/>
              </a:defRPr>
            </a:pPr>
            <a:r>
              <a:t>GIVING — DO IT SIMPLY AND GENEROUSLY</a:t>
            </a:r>
          </a:p>
        </p:txBody>
      </p:sp>
      <p:sp>
        <p:nvSpPr>
          <p:cNvPr id="18" name="Rounded Rectangle 17"/>
          <p:cNvSpPr/>
          <p:nvPr/>
        </p:nvSpPr>
        <p:spPr>
          <a:xfrm>
            <a:off x="457200" y="4617720"/>
            <a:ext cx="8229600" cy="292608"/>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63440"/>
            <a:ext cx="8046720" cy="246888"/>
          </a:xfrm>
          <a:prstGeom prst="rect">
            <a:avLst/>
          </a:prstGeom>
          <a:noFill/>
        </p:spPr>
        <p:txBody>
          <a:bodyPr wrap="square">
            <a:spAutoFit/>
          </a:bodyPr>
          <a:lstStyle/>
          <a:p>
            <a:pPr>
              <a:defRPr sz="1100" b="1">
                <a:solidFill>
                  <a:srgbClr val="1A1A1A"/>
                </a:solidFill>
                <a:latin typeface="Arial"/>
              </a:defRPr>
            </a:pPr>
            <a:r>
              <a:t>LEADERSHIP — LEAD WITH DILIGENCE AND ZEAL</a:t>
            </a:r>
          </a:p>
        </p:txBody>
      </p:sp>
      <p:sp>
        <p:nvSpPr>
          <p:cNvPr id="20" name="Rounded Rectangle 19"/>
          <p:cNvSpPr/>
          <p:nvPr/>
        </p:nvSpPr>
        <p:spPr>
          <a:xfrm>
            <a:off x="457200" y="4946904"/>
            <a:ext cx="8229600" cy="292608"/>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992624"/>
            <a:ext cx="8046720" cy="246888"/>
          </a:xfrm>
          <a:prstGeom prst="rect">
            <a:avLst/>
          </a:prstGeom>
          <a:noFill/>
        </p:spPr>
        <p:txBody>
          <a:bodyPr wrap="square">
            <a:spAutoFit/>
          </a:bodyPr>
          <a:lstStyle/>
          <a:p>
            <a:pPr>
              <a:defRPr sz="1100" b="1">
                <a:solidFill>
                  <a:srgbClr val="1A1A1A"/>
                </a:solidFill>
                <a:latin typeface="Arial"/>
              </a:defRPr>
            </a:pPr>
            <a:r>
              <a:t>MERCY — DO THEM CHEERFULLY</a:t>
            </a:r>
          </a:p>
        </p:txBody>
      </p:sp>
      <p:sp>
        <p:nvSpPr>
          <p:cNvPr id="22" name="TextBox 21"/>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23" name="TextBox 22"/>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24" name="TextBox 23"/>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25" name="Picture 24"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400" b="1">
                <a:solidFill>
                  <a:srgbClr val="1A1A1A"/>
                </a:solidFill>
                <a:latin typeface="Arial"/>
              </a:defRPr>
            </a:pPr>
            <a:r>
              <a:t>WEEK 2: KEY POINTS</a:t>
            </a:r>
          </a:p>
        </p:txBody>
      </p:sp>
      <p:sp>
        <p:nvSpPr>
          <p:cNvPr id="4" name="TextBox 3"/>
          <p:cNvSpPr txBox="1"/>
          <p:nvPr/>
        </p:nvSpPr>
        <p:spPr>
          <a:xfrm>
            <a:off x="457200" y="1005840"/>
            <a:ext cx="8229600" cy="731520"/>
          </a:xfrm>
          <a:prstGeom prst="rect">
            <a:avLst/>
          </a:prstGeom>
          <a:noFill/>
        </p:spPr>
        <p:txBody>
          <a:bodyPr wrap="square">
            <a:spAutoFit/>
          </a:bodyPr>
          <a:lstStyle/>
          <a:p>
            <a:pPr algn="l">
              <a:defRPr sz="1400" b="0">
                <a:solidFill>
                  <a:srgbClr val="1A1A1A"/>
                </a:solidFill>
                <a:latin typeface="Arial"/>
              </a:defRPr>
            </a:pPr>
            <a:r>
              <a:t>Point 1: God doesn’t give everyone the same gift. He gives each of us different gifts according to the unique measure of grace He has assigned to us (Romans 12:6).</a:t>
            </a:r>
          </a:p>
        </p:txBody>
      </p:sp>
      <p:sp>
        <p:nvSpPr>
          <p:cNvPr id="5" name="TextBox 4"/>
          <p:cNvSpPr txBox="1"/>
          <p:nvPr/>
        </p:nvSpPr>
        <p:spPr>
          <a:xfrm>
            <a:off x="457200" y="1828800"/>
            <a:ext cx="8229600" cy="548640"/>
          </a:xfrm>
          <a:prstGeom prst="rect">
            <a:avLst/>
          </a:prstGeom>
          <a:noFill/>
        </p:spPr>
        <p:txBody>
          <a:bodyPr wrap="square">
            <a:spAutoFit/>
          </a:bodyPr>
          <a:lstStyle/>
          <a:p>
            <a:pPr algn="l">
              <a:defRPr sz="1400" b="0">
                <a:solidFill>
                  <a:srgbClr val="1A1A1A"/>
                </a:solidFill>
                <a:latin typeface="Arial"/>
              </a:defRPr>
            </a:pPr>
            <a:r>
              <a:t>Point 2: Gifts are discovered through revelation, prayer, prophecy, and real-life serving.</a:t>
            </a:r>
          </a:p>
        </p:txBody>
      </p:sp>
      <p:sp>
        <p:nvSpPr>
          <p:cNvPr id="6" name="TextBox 5"/>
          <p:cNvSpPr txBox="1"/>
          <p:nvPr/>
        </p:nvSpPr>
        <p:spPr>
          <a:xfrm>
            <a:off x="457200" y="2468880"/>
            <a:ext cx="8229600" cy="548640"/>
          </a:xfrm>
          <a:prstGeom prst="rect">
            <a:avLst/>
          </a:prstGeom>
          <a:noFill/>
        </p:spPr>
        <p:txBody>
          <a:bodyPr wrap="square">
            <a:spAutoFit/>
          </a:bodyPr>
          <a:lstStyle/>
          <a:p>
            <a:pPr algn="l">
              <a:defRPr sz="1400" b="0">
                <a:solidFill>
                  <a:srgbClr val="1A1A1A"/>
                </a:solidFill>
                <a:latin typeface="Arial"/>
              </a:defRPr>
            </a:pPr>
            <a:r>
              <a:t>Point 3: Every gift — practical, creative, or spiritual — is important in the body of Christ.</a:t>
            </a:r>
          </a:p>
        </p:txBody>
      </p:sp>
      <p:sp>
        <p:nvSpPr>
          <p:cNvPr id="7" name="TextBox 6"/>
          <p:cNvSpPr txBox="1"/>
          <p:nvPr/>
        </p:nvSpPr>
        <p:spPr>
          <a:xfrm>
            <a:off x="457200" y="3200400"/>
            <a:ext cx="8229600" cy="914400"/>
          </a:xfrm>
          <a:prstGeom prst="rect">
            <a:avLst/>
          </a:prstGeom>
          <a:noFill/>
        </p:spPr>
        <p:txBody>
          <a:bodyPr wrap="square">
            <a:spAutoFit/>
          </a:bodyPr>
          <a:lstStyle/>
          <a:p>
            <a:pPr algn="l">
              <a:defRPr sz="1300" b="0">
                <a:solidFill>
                  <a:srgbClr val="1A1A1A"/>
                </a:solidFill>
                <a:latin typeface="Arial"/>
              </a:defRPr>
            </a:pPr>
            <a:r>
              <a:t>Your gift is custom-made for you. It’s the perfect fit. You don’t need to compare yourself to anyone else. Your gift is enough. It’s important. And when you use it, the whole church becomes stronger — like a completed jigsaw puzzle.</a:t>
            </a:r>
          </a:p>
        </p:txBody>
      </p:sp>
      <p:sp>
        <p:nvSpPr>
          <p:cNvPr id="8" name="Rounded Rectangle 7"/>
          <p:cNvSpPr/>
          <p:nvPr/>
        </p:nvSpPr>
        <p:spPr>
          <a:xfrm>
            <a:off x="457200" y="4206240"/>
            <a:ext cx="8229600" cy="640080"/>
          </a:xfrm>
          <a:prstGeom prst="roundRect">
            <a:avLst/>
          </a:prstGeom>
          <a:solidFill>
            <a:srgbClr val="E63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279392"/>
            <a:ext cx="8010144" cy="548640"/>
          </a:xfrm>
          <a:prstGeom prst="rect">
            <a:avLst/>
          </a:prstGeom>
          <a:noFill/>
        </p:spPr>
        <p:txBody>
          <a:bodyPr wrap="square">
            <a:spAutoFit/>
          </a:bodyPr>
          <a:lstStyle/>
          <a:p>
            <a:pPr algn="ctr">
              <a:defRPr sz="1300" b="1">
                <a:solidFill>
                  <a:srgbClr val="FFFFFF"/>
                </a:solidFill>
                <a:latin typeface="Arial"/>
              </a:defRPr>
            </a:pPr>
            <a:r>
              <a:t>MY UNIQUE SPIRITUAL GIFT IS ALREADY IN ME.</a:t>
            </a:r>
            <a:br/>
            <a:r>
              <a:t>THIS WEEK I WILL DISCOVER IT AND BEGIN TO USE IT FOR GOD’S GLORY!</a:t>
            </a:r>
          </a:p>
        </p:txBody>
      </p:sp>
      <p:sp>
        <p:nvSpPr>
          <p:cNvPr id="10" name="TextBox 9"/>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1" name="TextBox 10"/>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2" name="TextBox 11"/>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13" name="Picture 12"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200" b="1">
                <a:solidFill>
                  <a:srgbClr val="1A1A1A"/>
                </a:solidFill>
                <a:latin typeface="Arial"/>
              </a:defRPr>
            </a:pPr>
            <a:r>
              <a:t>WEEK 3: DEVELOPING &amp; STIRRING YOUR GIFTS</a:t>
            </a:r>
          </a:p>
        </p:txBody>
      </p:sp>
      <p:sp>
        <p:nvSpPr>
          <p:cNvPr id="4" name="TextBox 3"/>
          <p:cNvSpPr txBox="1"/>
          <p:nvPr/>
        </p:nvSpPr>
        <p:spPr>
          <a:xfrm>
            <a:off x="457200" y="914400"/>
            <a:ext cx="8229600" cy="274320"/>
          </a:xfrm>
          <a:prstGeom prst="rect">
            <a:avLst/>
          </a:prstGeom>
          <a:noFill/>
        </p:spPr>
        <p:txBody>
          <a:bodyPr wrap="square">
            <a:spAutoFit/>
          </a:bodyPr>
          <a:lstStyle/>
          <a:p>
            <a:pPr algn="l">
              <a:defRPr sz="1200" b="1">
                <a:solidFill>
                  <a:srgbClr val="1A1A1A"/>
                </a:solidFill>
                <a:latin typeface="Arial"/>
              </a:defRPr>
            </a:pPr>
            <a:r>
              <a:t>Main Scripture: 2 Timothy 1:6-7</a:t>
            </a:r>
          </a:p>
        </p:txBody>
      </p:sp>
      <p:sp>
        <p:nvSpPr>
          <p:cNvPr id="5" name="Rounded Rectangle 4"/>
          <p:cNvSpPr/>
          <p:nvPr/>
        </p:nvSpPr>
        <p:spPr>
          <a:xfrm>
            <a:off x="457200" y="1188720"/>
            <a:ext cx="8229600" cy="914400"/>
          </a:xfrm>
          <a:prstGeom prst="roundRect">
            <a:avLst/>
          </a:prstGeom>
          <a:solidFill>
            <a:srgbClr val="FFF9E6"/>
          </a:solidFill>
          <a:ln w="3810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80160"/>
            <a:ext cx="7955280" cy="731520"/>
          </a:xfrm>
          <a:prstGeom prst="rect">
            <a:avLst/>
          </a:prstGeom>
          <a:noFill/>
        </p:spPr>
        <p:txBody>
          <a:bodyPr wrap="square">
            <a:spAutoFit/>
          </a:bodyPr>
          <a:lstStyle/>
          <a:p>
            <a:pPr>
              <a:defRPr sz="1100" b="1">
                <a:solidFill>
                  <a:srgbClr val="E6392D"/>
                </a:solidFill>
                <a:latin typeface="Arial"/>
              </a:defRPr>
            </a:pPr>
            <a:r>
              <a:t>2 Timothy 1:6-7</a:t>
            </a:r>
          </a:p>
          <a:p>
            <a:pPr>
              <a:spcBef>
                <a:spcPts val="400"/>
              </a:spcBef>
              <a:defRPr sz="1200">
                <a:solidFill>
                  <a:srgbClr val="1A1A1A"/>
                </a:solidFill>
                <a:latin typeface="Georgia"/>
              </a:defRPr>
            </a:pPr>
            <a:r>
              <a:t>For this reason, I am reminding you to fan the flame of God’s gift, which you received through s’mikhah from me. 7 For God gave us a Spirit who produces not timidity, but power, love and self-discipline.</a:t>
            </a:r>
          </a:p>
        </p:txBody>
      </p:sp>
      <p:sp>
        <p:nvSpPr>
          <p:cNvPr id="7" name="TextBox 6"/>
          <p:cNvSpPr txBox="1"/>
          <p:nvPr/>
        </p:nvSpPr>
        <p:spPr>
          <a:xfrm>
            <a:off x="457200" y="2286000"/>
            <a:ext cx="8229600" cy="274320"/>
          </a:xfrm>
          <a:prstGeom prst="rect">
            <a:avLst/>
          </a:prstGeom>
          <a:noFill/>
        </p:spPr>
        <p:txBody>
          <a:bodyPr wrap="square">
            <a:spAutoFit/>
          </a:bodyPr>
          <a:lstStyle/>
          <a:p>
            <a:pPr algn="l">
              <a:defRPr sz="1300" b="1">
                <a:solidFill>
                  <a:srgbClr val="1A1A1A"/>
                </a:solidFill>
                <a:latin typeface="Arial"/>
              </a:defRPr>
            </a:pPr>
            <a:r>
              <a:t>Three Points to Ponder:</a:t>
            </a:r>
          </a:p>
        </p:txBody>
      </p:sp>
      <p:sp>
        <p:nvSpPr>
          <p:cNvPr id="8" name="TextBox 7"/>
          <p:cNvSpPr txBox="1"/>
          <p:nvPr/>
        </p:nvSpPr>
        <p:spPr>
          <a:xfrm>
            <a:off x="457200" y="2606040"/>
            <a:ext cx="8229600" cy="1645920"/>
          </a:xfrm>
          <a:prstGeom prst="rect">
            <a:avLst/>
          </a:prstGeom>
          <a:noFill/>
        </p:spPr>
        <p:txBody>
          <a:bodyPr wrap="square">
            <a:spAutoFit/>
          </a:bodyPr>
          <a:lstStyle/>
          <a:p>
            <a:pPr>
              <a:spcAft>
                <a:spcPts val="600"/>
              </a:spcAft>
              <a:defRPr sz="1400">
                <a:solidFill>
                  <a:srgbClr val="1A1A1A"/>
                </a:solidFill>
                <a:latin typeface="Arial"/>
              </a:defRPr>
            </a:pPr>
            <a:r>
              <a:t>• 1. Once we know our gifts, we must intentionally stir them up.</a:t>
            </a:r>
          </a:p>
          <a:p>
            <a:pPr>
              <a:spcAft>
                <a:spcPts val="600"/>
              </a:spcAft>
              <a:defRPr sz="1400">
                <a:solidFill>
                  <a:srgbClr val="1A1A1A"/>
                </a:solidFill>
                <a:latin typeface="Arial"/>
              </a:defRPr>
            </a:pPr>
            <a:r>
              <a:t>• 2. God has not given us a spirit of fear, but of power, love, and self-discipline.</a:t>
            </a:r>
          </a:p>
          <a:p>
            <a:pPr>
              <a:spcAft>
                <a:spcPts val="600"/>
              </a:spcAft>
              <a:defRPr sz="1400">
                <a:solidFill>
                  <a:srgbClr val="1A1A1A"/>
                </a:solidFill>
                <a:latin typeface="Arial"/>
              </a:defRPr>
            </a:pPr>
            <a:r>
              <a:t>• 3. Small, consistent steps (daily practice + prayer) fan the flame higher.</a:t>
            </a:r>
          </a:p>
        </p:txBody>
      </p:sp>
      <p:sp>
        <p:nvSpPr>
          <p:cNvPr id="9" name="Rounded Rectangle 8"/>
          <p:cNvSpPr/>
          <p:nvPr/>
        </p:nvSpPr>
        <p:spPr>
          <a:xfrm>
            <a:off x="457200" y="4480560"/>
            <a:ext cx="8229600" cy="36576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526280"/>
            <a:ext cx="8046720" cy="320040"/>
          </a:xfrm>
          <a:prstGeom prst="rect">
            <a:avLst/>
          </a:prstGeom>
          <a:noFill/>
        </p:spPr>
        <p:txBody>
          <a:bodyPr wrap="square">
            <a:spAutoFit/>
          </a:bodyPr>
          <a:lstStyle/>
          <a:p>
            <a:pPr>
              <a:defRPr sz="1100" b="1">
                <a:solidFill>
                  <a:srgbClr val="1A1A1A"/>
                </a:solidFill>
                <a:latin typeface="Arial"/>
              </a:defRPr>
            </a:pPr>
            <a:r>
              <a:t>TAKE AWAY: STIR THE FLAME — USE WHAT GOD HAS PLACED IN YOU</a:t>
            </a:r>
          </a:p>
        </p:txBody>
      </p:sp>
      <p:sp>
        <p:nvSpPr>
          <p:cNvPr id="11" name="TextBox 10"/>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2" name="TextBox 11"/>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3" name="TextBox 12"/>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14" name="Picture 13"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000" b="1">
                <a:solidFill>
                  <a:srgbClr val="1A1A1A"/>
                </a:solidFill>
                <a:latin typeface="Arial"/>
              </a:defRPr>
            </a:pPr>
            <a:r>
              <a:t>WEEK 4: DEPLOYING YOUR GIFTS IN THE CHURCH FAMILY</a:t>
            </a:r>
          </a:p>
        </p:txBody>
      </p:sp>
      <p:sp>
        <p:nvSpPr>
          <p:cNvPr id="4" name="TextBox 3"/>
          <p:cNvSpPr txBox="1"/>
          <p:nvPr/>
        </p:nvSpPr>
        <p:spPr>
          <a:xfrm>
            <a:off x="457200" y="914400"/>
            <a:ext cx="8229600" cy="274320"/>
          </a:xfrm>
          <a:prstGeom prst="rect">
            <a:avLst/>
          </a:prstGeom>
          <a:noFill/>
        </p:spPr>
        <p:txBody>
          <a:bodyPr wrap="square">
            <a:spAutoFit/>
          </a:bodyPr>
          <a:lstStyle/>
          <a:p>
            <a:pPr algn="l">
              <a:defRPr sz="1200" b="1">
                <a:solidFill>
                  <a:srgbClr val="1A1A1A"/>
                </a:solidFill>
                <a:latin typeface="Arial"/>
              </a:defRPr>
            </a:pPr>
            <a:r>
              <a:t>Main Scripture: Ephesians 4:11-16</a:t>
            </a:r>
          </a:p>
        </p:txBody>
      </p:sp>
      <p:sp>
        <p:nvSpPr>
          <p:cNvPr id="5" name="Rounded Rectangle 4"/>
          <p:cNvSpPr/>
          <p:nvPr/>
        </p:nvSpPr>
        <p:spPr>
          <a:xfrm>
            <a:off x="457200" y="1188720"/>
            <a:ext cx="8229600" cy="1463040"/>
          </a:xfrm>
          <a:prstGeom prst="roundRect">
            <a:avLst/>
          </a:prstGeom>
          <a:solidFill>
            <a:srgbClr val="FFF9E6"/>
          </a:solidFill>
          <a:ln w="3810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80160"/>
            <a:ext cx="7955280" cy="1280160"/>
          </a:xfrm>
          <a:prstGeom prst="rect">
            <a:avLst/>
          </a:prstGeom>
          <a:noFill/>
        </p:spPr>
        <p:txBody>
          <a:bodyPr wrap="square">
            <a:spAutoFit/>
          </a:bodyPr>
          <a:lstStyle/>
          <a:p>
            <a:pPr>
              <a:defRPr sz="1100" b="1">
                <a:solidFill>
                  <a:srgbClr val="E6392D"/>
                </a:solidFill>
                <a:latin typeface="Arial"/>
              </a:defRPr>
            </a:pPr>
            <a:r>
              <a:t>Ephesians 4:11-16</a:t>
            </a:r>
          </a:p>
          <a:p>
            <a:pPr>
              <a:spcBef>
                <a:spcPts val="400"/>
              </a:spcBef>
              <a:defRPr sz="1200">
                <a:solidFill>
                  <a:srgbClr val="1A1A1A"/>
                </a:solidFill>
                <a:latin typeface="Georgia"/>
              </a:defRPr>
            </a:pPr>
            <a:r>
              <a:t>Furthermore, he gave some people as emissaries, some as prophets, some as proclaimers of the Good News, and some as shepherds and teachers. Their task is to equip God’s people for the work of service that builds the body of the Messiah, until we all arrive at the unity implied by trusting and knowing the Son of God, at full manhood, at the standard of maturity set by the Messiah’s perfection. ... Under his control, the whole body is being fitted and held together by the support of every joint, with each part working to fulfill its function; this is how the body grows and builds itself up in love.</a:t>
            </a:r>
          </a:p>
        </p:txBody>
      </p:sp>
      <p:sp>
        <p:nvSpPr>
          <p:cNvPr id="7" name="TextBox 6"/>
          <p:cNvSpPr txBox="1"/>
          <p:nvPr/>
        </p:nvSpPr>
        <p:spPr>
          <a:xfrm>
            <a:off x="457200" y="2834640"/>
            <a:ext cx="8229600" cy="1371600"/>
          </a:xfrm>
          <a:prstGeom prst="rect">
            <a:avLst/>
          </a:prstGeom>
          <a:noFill/>
        </p:spPr>
        <p:txBody>
          <a:bodyPr wrap="square">
            <a:spAutoFit/>
          </a:bodyPr>
          <a:lstStyle/>
          <a:p>
            <a:pPr>
              <a:spcAft>
                <a:spcPts val="600"/>
              </a:spcAft>
              <a:defRPr sz="1400">
                <a:solidFill>
                  <a:srgbClr val="1A1A1A"/>
                </a:solidFill>
                <a:latin typeface="Arial"/>
              </a:defRPr>
            </a:pPr>
            <a:r>
              <a:t>• 1. Gifts are given to build up the whole body of Christ, not just for personal use.</a:t>
            </a:r>
          </a:p>
          <a:p>
            <a:pPr>
              <a:spcAft>
                <a:spcPts val="600"/>
              </a:spcAft>
              <a:defRPr sz="1400">
                <a:solidFill>
                  <a:srgbClr val="1A1A1A"/>
                </a:solidFill>
                <a:latin typeface="Arial"/>
              </a:defRPr>
            </a:pPr>
            <a:r>
              <a:t>• 2. Every gift (practical, creative, or spiritual) is needed for the church to grow.</a:t>
            </a:r>
          </a:p>
          <a:p>
            <a:pPr>
              <a:spcAft>
                <a:spcPts val="600"/>
              </a:spcAft>
              <a:defRPr sz="1400">
                <a:solidFill>
                  <a:srgbClr val="1A1A1A"/>
                </a:solidFill>
                <a:latin typeface="Arial"/>
              </a:defRPr>
            </a:pPr>
            <a:r>
              <a:t>• 3. When we deploy our gifts in love, the whole body becomes stronger.</a:t>
            </a:r>
          </a:p>
        </p:txBody>
      </p:sp>
      <p:sp>
        <p:nvSpPr>
          <p:cNvPr id="8" name="Rounded Rectangle 7"/>
          <p:cNvSpPr/>
          <p:nvPr/>
        </p:nvSpPr>
        <p:spPr>
          <a:xfrm>
            <a:off x="457200" y="4389120"/>
            <a:ext cx="8229600" cy="36576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434840"/>
            <a:ext cx="8046720" cy="320040"/>
          </a:xfrm>
          <a:prstGeom prst="rect">
            <a:avLst/>
          </a:prstGeom>
          <a:noFill/>
        </p:spPr>
        <p:txBody>
          <a:bodyPr wrap="square">
            <a:spAutoFit/>
          </a:bodyPr>
          <a:lstStyle/>
          <a:p>
            <a:pPr>
              <a:defRPr sz="1100" b="1">
                <a:solidFill>
                  <a:srgbClr val="1A1A1A"/>
                </a:solidFill>
                <a:latin typeface="Arial"/>
              </a:defRPr>
            </a:pPr>
            <a:r>
              <a:t>TAKE AWAY: NO LONGER INFANTS — GROW UP BY DEPLOYING YOUR GIFTS</a:t>
            </a:r>
          </a:p>
        </p:txBody>
      </p:sp>
      <p:sp>
        <p:nvSpPr>
          <p:cNvPr id="10" name="TextBox 9"/>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1" name="TextBox 10"/>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2" name="TextBox 11"/>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13" name="Picture 12"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200" b="1">
                <a:solidFill>
                  <a:srgbClr val="1A1A1A"/>
                </a:solidFill>
                <a:latin typeface="Arial"/>
              </a:defRPr>
            </a:pPr>
            <a:r>
              <a:t>WEEK 5: OVERCOMING WHAT QUENCHES THE GIFT</a:t>
            </a:r>
          </a:p>
        </p:txBody>
      </p:sp>
      <p:sp>
        <p:nvSpPr>
          <p:cNvPr id="4" name="TextBox 3"/>
          <p:cNvSpPr txBox="1"/>
          <p:nvPr/>
        </p:nvSpPr>
        <p:spPr>
          <a:xfrm>
            <a:off x="457200" y="914400"/>
            <a:ext cx="8229600" cy="274320"/>
          </a:xfrm>
          <a:prstGeom prst="rect">
            <a:avLst/>
          </a:prstGeom>
          <a:noFill/>
        </p:spPr>
        <p:txBody>
          <a:bodyPr wrap="square">
            <a:spAutoFit/>
          </a:bodyPr>
          <a:lstStyle/>
          <a:p>
            <a:pPr algn="l">
              <a:defRPr sz="1200" b="1">
                <a:solidFill>
                  <a:srgbClr val="1A1A1A"/>
                </a:solidFill>
                <a:latin typeface="Arial"/>
              </a:defRPr>
            </a:pPr>
            <a:r>
              <a:t>Main Scripture: 1 Thessalonians 5:19-22</a:t>
            </a:r>
          </a:p>
        </p:txBody>
      </p:sp>
      <p:sp>
        <p:nvSpPr>
          <p:cNvPr id="5" name="Rounded Rectangle 4"/>
          <p:cNvSpPr/>
          <p:nvPr/>
        </p:nvSpPr>
        <p:spPr>
          <a:xfrm>
            <a:off x="457200" y="1188720"/>
            <a:ext cx="8229600" cy="822960"/>
          </a:xfrm>
          <a:prstGeom prst="roundRect">
            <a:avLst/>
          </a:prstGeom>
          <a:solidFill>
            <a:srgbClr val="FFF9E6"/>
          </a:solidFill>
          <a:ln w="3810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80160"/>
            <a:ext cx="7955280" cy="640080"/>
          </a:xfrm>
          <a:prstGeom prst="rect">
            <a:avLst/>
          </a:prstGeom>
          <a:noFill/>
        </p:spPr>
        <p:txBody>
          <a:bodyPr wrap="square">
            <a:spAutoFit/>
          </a:bodyPr>
          <a:lstStyle/>
          <a:p>
            <a:pPr>
              <a:defRPr sz="1100" b="1">
                <a:solidFill>
                  <a:srgbClr val="E6392D"/>
                </a:solidFill>
                <a:latin typeface="Arial"/>
              </a:defRPr>
            </a:pPr>
            <a:r>
              <a:t>1 Thessalonians 5:19-22</a:t>
            </a:r>
          </a:p>
          <a:p>
            <a:pPr>
              <a:spcBef>
                <a:spcPts val="400"/>
              </a:spcBef>
              <a:defRPr sz="1200">
                <a:solidFill>
                  <a:srgbClr val="1A1A1A"/>
                </a:solidFill>
                <a:latin typeface="Georgia"/>
              </a:defRPr>
            </a:pPr>
            <a:r>
              <a:t>Don’t quench the Spirit, don’t despise inspired messages. But do test everything — hold onto what is good, but keep away from every form of evil.</a:t>
            </a:r>
          </a:p>
        </p:txBody>
      </p:sp>
      <p:sp>
        <p:nvSpPr>
          <p:cNvPr id="7" name="TextBox 6"/>
          <p:cNvSpPr txBox="1"/>
          <p:nvPr/>
        </p:nvSpPr>
        <p:spPr>
          <a:xfrm>
            <a:off x="457200" y="2194560"/>
            <a:ext cx="8229600" cy="1645920"/>
          </a:xfrm>
          <a:prstGeom prst="rect">
            <a:avLst/>
          </a:prstGeom>
          <a:noFill/>
        </p:spPr>
        <p:txBody>
          <a:bodyPr wrap="square">
            <a:spAutoFit/>
          </a:bodyPr>
          <a:lstStyle/>
          <a:p>
            <a:pPr>
              <a:spcAft>
                <a:spcPts val="600"/>
              </a:spcAft>
              <a:defRPr sz="1400">
                <a:solidFill>
                  <a:srgbClr val="1A1A1A"/>
                </a:solidFill>
                <a:latin typeface="Arial"/>
              </a:defRPr>
            </a:pPr>
            <a:r>
              <a:t>• 1. We can unintentionally quench the Holy Spirit’s work through fear, busyness, or doubt.</a:t>
            </a:r>
          </a:p>
          <a:p>
            <a:pPr>
              <a:spcAft>
                <a:spcPts val="600"/>
              </a:spcAft>
              <a:defRPr sz="1400">
                <a:solidFill>
                  <a:srgbClr val="1A1A1A"/>
                </a:solidFill>
                <a:latin typeface="Arial"/>
              </a:defRPr>
            </a:pPr>
            <a:r>
              <a:t>• 2. The antidote is to test everything and hold fast to what is good.</a:t>
            </a:r>
          </a:p>
          <a:p>
            <a:pPr>
              <a:spcAft>
                <a:spcPts val="600"/>
              </a:spcAft>
              <a:defRPr sz="1400">
                <a:solidFill>
                  <a:srgbClr val="1A1A1A"/>
                </a:solidFill>
                <a:latin typeface="Arial"/>
              </a:defRPr>
            </a:pPr>
            <a:r>
              <a:t>• 3. Knowing our gifts gives us confidence to push past what tries to quench them.</a:t>
            </a:r>
          </a:p>
        </p:txBody>
      </p:sp>
      <p:sp>
        <p:nvSpPr>
          <p:cNvPr id="8" name="Rounded Rectangle 7"/>
          <p:cNvSpPr/>
          <p:nvPr/>
        </p:nvSpPr>
        <p:spPr>
          <a:xfrm>
            <a:off x="457200" y="4114800"/>
            <a:ext cx="8229600" cy="365760"/>
          </a:xfrm>
          <a:prstGeom prst="round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160520"/>
            <a:ext cx="8046720" cy="320040"/>
          </a:xfrm>
          <a:prstGeom prst="rect">
            <a:avLst/>
          </a:prstGeom>
          <a:noFill/>
        </p:spPr>
        <p:txBody>
          <a:bodyPr wrap="square">
            <a:spAutoFit/>
          </a:bodyPr>
          <a:lstStyle/>
          <a:p>
            <a:pPr>
              <a:defRPr sz="1100" b="1">
                <a:solidFill>
                  <a:srgbClr val="1A1A1A"/>
                </a:solidFill>
                <a:latin typeface="Arial"/>
              </a:defRPr>
            </a:pPr>
            <a:r>
              <a:t>TAKE AWAY: DO NOT QUENCH THE SPIRIT — FAN THE FLAME</a:t>
            </a:r>
          </a:p>
        </p:txBody>
      </p:sp>
      <p:sp>
        <p:nvSpPr>
          <p:cNvPr id="10" name="TextBox 9"/>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1" name="TextBox 10"/>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2" name="TextBox 11"/>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13" name="Picture 12"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000" b="1">
                <a:solidFill>
                  <a:srgbClr val="1A1A1A"/>
                </a:solidFill>
                <a:latin typeface="Arial"/>
              </a:defRPr>
            </a:pPr>
            <a:r>
              <a:t>WEEK 6: MULTIPLYING THE GIFTS — STIRRING OTHERS</a:t>
            </a:r>
          </a:p>
        </p:txBody>
      </p:sp>
      <p:sp>
        <p:nvSpPr>
          <p:cNvPr id="4" name="TextBox 3"/>
          <p:cNvSpPr txBox="1"/>
          <p:nvPr/>
        </p:nvSpPr>
        <p:spPr>
          <a:xfrm>
            <a:off x="457200" y="914400"/>
            <a:ext cx="8229600" cy="274320"/>
          </a:xfrm>
          <a:prstGeom prst="rect">
            <a:avLst/>
          </a:prstGeom>
          <a:noFill/>
        </p:spPr>
        <p:txBody>
          <a:bodyPr wrap="square">
            <a:spAutoFit/>
          </a:bodyPr>
          <a:lstStyle/>
          <a:p>
            <a:pPr algn="l">
              <a:defRPr sz="1200" b="1">
                <a:solidFill>
                  <a:srgbClr val="1A1A1A"/>
                </a:solidFill>
                <a:latin typeface="Arial"/>
              </a:defRPr>
            </a:pPr>
            <a:r>
              <a:t>Main Scripture: 2 Timothy 2:2</a:t>
            </a:r>
          </a:p>
        </p:txBody>
      </p:sp>
      <p:sp>
        <p:nvSpPr>
          <p:cNvPr id="5" name="Rounded Rectangle 4"/>
          <p:cNvSpPr/>
          <p:nvPr/>
        </p:nvSpPr>
        <p:spPr>
          <a:xfrm>
            <a:off x="457200" y="1188720"/>
            <a:ext cx="8229600" cy="777240"/>
          </a:xfrm>
          <a:prstGeom prst="roundRect">
            <a:avLst/>
          </a:prstGeom>
          <a:solidFill>
            <a:srgbClr val="FFF9E6"/>
          </a:solidFill>
          <a:ln w="3810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80160"/>
            <a:ext cx="7955280" cy="594360"/>
          </a:xfrm>
          <a:prstGeom prst="rect">
            <a:avLst/>
          </a:prstGeom>
          <a:noFill/>
        </p:spPr>
        <p:txBody>
          <a:bodyPr wrap="square">
            <a:spAutoFit/>
          </a:bodyPr>
          <a:lstStyle/>
          <a:p>
            <a:pPr>
              <a:defRPr sz="1100" b="1">
                <a:solidFill>
                  <a:srgbClr val="E6392D"/>
                </a:solidFill>
                <a:latin typeface="Arial"/>
              </a:defRPr>
            </a:pPr>
            <a:r>
              <a:t>2 Timothy 2:2</a:t>
            </a:r>
          </a:p>
          <a:p>
            <a:pPr>
              <a:spcBef>
                <a:spcPts val="400"/>
              </a:spcBef>
              <a:defRPr sz="1200">
                <a:solidFill>
                  <a:srgbClr val="1A1A1A"/>
                </a:solidFill>
                <a:latin typeface="Georgia"/>
              </a:defRPr>
            </a:pPr>
            <a:r>
              <a:t>And the things you heard from me, which were supported by many witnesses, these things commit to faithful people, such as will be competent to teach others also.</a:t>
            </a:r>
          </a:p>
        </p:txBody>
      </p:sp>
      <p:sp>
        <p:nvSpPr>
          <p:cNvPr id="7" name="TextBox 6"/>
          <p:cNvSpPr txBox="1"/>
          <p:nvPr/>
        </p:nvSpPr>
        <p:spPr>
          <a:xfrm>
            <a:off x="457200" y="2148840"/>
            <a:ext cx="8229600" cy="1645920"/>
          </a:xfrm>
          <a:prstGeom prst="rect">
            <a:avLst/>
          </a:prstGeom>
          <a:noFill/>
        </p:spPr>
        <p:txBody>
          <a:bodyPr wrap="square">
            <a:spAutoFit/>
          </a:bodyPr>
          <a:lstStyle/>
          <a:p>
            <a:pPr>
              <a:spcAft>
                <a:spcPts val="600"/>
              </a:spcAft>
              <a:defRPr sz="1400">
                <a:solidFill>
                  <a:srgbClr val="1A1A1A"/>
                </a:solidFill>
                <a:latin typeface="Arial"/>
              </a:defRPr>
            </a:pPr>
            <a:r>
              <a:t>• 1. What God has given us is meant to be passed on to others.</a:t>
            </a:r>
          </a:p>
          <a:p>
            <a:pPr>
              <a:spcAft>
                <a:spcPts val="600"/>
              </a:spcAft>
              <a:defRPr sz="1400">
                <a:solidFill>
                  <a:srgbClr val="1A1A1A"/>
                </a:solidFill>
                <a:latin typeface="Arial"/>
              </a:defRPr>
            </a:pPr>
            <a:r>
              <a:t>• 2. We multiply gifts by intentionally encouraging and stirring them in other people.</a:t>
            </a:r>
          </a:p>
          <a:p>
            <a:pPr>
              <a:spcAft>
                <a:spcPts val="600"/>
              </a:spcAft>
              <a:defRPr sz="1400">
                <a:solidFill>
                  <a:srgbClr val="1A1A1A"/>
                </a:solidFill>
                <a:latin typeface="Arial"/>
              </a:defRPr>
            </a:pPr>
            <a:r>
              <a:t>• 3. The fire spreads when we become people who help others discover and use their gifts.</a:t>
            </a:r>
          </a:p>
        </p:txBody>
      </p:sp>
      <p:sp>
        <p:nvSpPr>
          <p:cNvPr id="8" name="Rounded Rectangle 7"/>
          <p:cNvSpPr/>
          <p:nvPr/>
        </p:nvSpPr>
        <p:spPr>
          <a:xfrm>
            <a:off x="457200" y="4023360"/>
            <a:ext cx="8229600" cy="411480"/>
          </a:xfrm>
          <a:prstGeom prst="roundRect">
            <a:avLst/>
          </a:prstGeom>
          <a:solidFill>
            <a:srgbClr val="E63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096512"/>
            <a:ext cx="8010144" cy="320040"/>
          </a:xfrm>
          <a:prstGeom prst="rect">
            <a:avLst/>
          </a:prstGeom>
          <a:noFill/>
        </p:spPr>
        <p:txBody>
          <a:bodyPr wrap="square">
            <a:spAutoFit/>
          </a:bodyPr>
          <a:lstStyle/>
          <a:p>
            <a:pPr algn="ctr">
              <a:defRPr sz="1300" b="1">
                <a:solidFill>
                  <a:srgbClr val="FFFFFF"/>
                </a:solidFill>
                <a:latin typeface="Arial"/>
              </a:defRPr>
            </a:pPr>
            <a:r>
              <a:t>THE FIRE SPREADS WHEN WE STIR OTHERS</a:t>
            </a:r>
          </a:p>
        </p:txBody>
      </p:sp>
      <p:sp>
        <p:nvSpPr>
          <p:cNvPr id="10" name="TextBox 9"/>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1" name="TextBox 10"/>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2" name="TextBox 11"/>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13" name="Picture 12"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411480"/>
          </a:xfrm>
          <a:prstGeom prst="rect">
            <a:avLst/>
          </a:prstGeom>
          <a:noFill/>
        </p:spPr>
        <p:txBody>
          <a:bodyPr wrap="square">
            <a:spAutoFit/>
          </a:bodyPr>
          <a:lstStyle/>
          <a:p>
            <a:pPr algn="l">
              <a:defRPr sz="2000" b="1">
                <a:solidFill>
                  <a:srgbClr val="1A1A1A"/>
                </a:solidFill>
                <a:latin typeface="Arial"/>
              </a:defRPr>
            </a:pPr>
            <a:r>
              <a:t>SPIRITUAL GIFTS VS NATURAL TALENTS</a:t>
            </a:r>
          </a:p>
        </p:txBody>
      </p:sp>
      <p:graphicFrame>
        <p:nvGraphicFramePr>
          <p:cNvPr id="4" name="Table 3"/>
          <p:cNvGraphicFramePr>
            <a:graphicFrameLocks noGrp="1"/>
          </p:cNvGraphicFramePr>
          <p:nvPr/>
        </p:nvGraphicFramePr>
        <p:xfrm>
          <a:off x="365760" y="868680"/>
          <a:ext cx="8412480" cy="2743200"/>
        </p:xfrm>
        <a:graphic>
          <a:graphicData uri="http://schemas.openxmlformats.org/drawingml/2006/table">
            <a:tbl>
              <a:tblPr firstRow="1" bandRow="1">
                <a:tableStyleId>{5C22544A-7EE6-4342-B048-85BDC9FD1C3A}</a:tableStyleId>
              </a:tblPr>
              <a:tblGrid>
                <a:gridCol w="1645920"/>
                <a:gridCol w="3383280"/>
                <a:gridCol w="3383280"/>
              </a:tblGrid>
              <a:tr h="548640">
                <a:tc>
                  <a:txBody>
                    <a:bodyPr/>
                    <a:lstStyle/>
                    <a:p>
                      <a:pPr>
                        <a:defRPr sz="1000" b="1">
                          <a:solidFill>
                            <a:srgbClr val="FFFFFF"/>
                          </a:solidFill>
                          <a:latin typeface="Arial"/>
                        </a:defRPr>
                      </a:pPr>
                      <a:r>
                        <a:t>Aspect</a:t>
                      </a:r>
                    </a:p>
                  </a:txBody>
                  <a:tcPr>
                    <a:solidFill>
                      <a:srgbClr val="E6392D"/>
                    </a:solidFill>
                  </a:tcPr>
                </a:tc>
                <a:tc>
                  <a:txBody>
                    <a:bodyPr/>
                    <a:lstStyle/>
                    <a:p>
                      <a:pPr>
                        <a:defRPr sz="1000" b="1">
                          <a:solidFill>
                            <a:srgbClr val="FFFFFF"/>
                          </a:solidFill>
                          <a:latin typeface="Arial"/>
                        </a:defRPr>
                      </a:pPr>
                      <a:r>
                        <a:t>Spiritual Gifts</a:t>
                      </a:r>
                    </a:p>
                  </a:txBody>
                  <a:tcPr>
                    <a:solidFill>
                      <a:srgbClr val="D4A017"/>
                    </a:solidFill>
                  </a:tcPr>
                </a:tc>
                <a:tc>
                  <a:txBody>
                    <a:bodyPr/>
                    <a:lstStyle/>
                    <a:p>
                      <a:pPr>
                        <a:defRPr sz="1000" b="1">
                          <a:solidFill>
                            <a:srgbClr val="FFFFFF"/>
                          </a:solidFill>
                          <a:latin typeface="Arial"/>
                        </a:defRPr>
                      </a:pPr>
                      <a:r>
                        <a:t>Natural Talents</a:t>
                      </a:r>
                    </a:p>
                  </a:txBody>
                  <a:tcPr>
                    <a:solidFill>
                      <a:srgbClr val="D4A017"/>
                    </a:solidFill>
                  </a:tcPr>
                </a:tc>
              </a:tr>
              <a:tr h="548640">
                <a:tc>
                  <a:txBody>
                    <a:bodyPr/>
                    <a:lstStyle/>
                    <a:p>
                      <a:pPr>
                        <a:defRPr sz="1000">
                          <a:solidFill>
                            <a:srgbClr val="1A1A1A"/>
                          </a:solidFill>
                          <a:latin typeface="Arial"/>
                        </a:defRPr>
                      </a:pPr>
                      <a:r>
                        <a:t>Source</a:t>
                      </a:r>
                    </a:p>
                  </a:txBody>
                  <a:tcPr>
                    <a:solidFill>
                      <a:srgbClr val="FFF9E6"/>
                    </a:solidFill>
                  </a:tcPr>
                </a:tc>
                <a:tc>
                  <a:txBody>
                    <a:bodyPr/>
                    <a:lstStyle/>
                    <a:p>
                      <a:pPr>
                        <a:defRPr sz="1000">
                          <a:solidFill>
                            <a:srgbClr val="1A1A1A"/>
                          </a:solidFill>
                          <a:latin typeface="Arial"/>
                        </a:defRPr>
                      </a:pPr>
                      <a:r>
                        <a:t>Given by the Holy Spirit at conversion/baptism in the Spirit</a:t>
                      </a:r>
                    </a:p>
                  </a:txBody>
                  <a:tcPr>
                    <a:solidFill>
                      <a:srgbClr val="FFFFFF"/>
                    </a:solidFill>
                  </a:tcPr>
                </a:tc>
                <a:tc>
                  <a:txBody>
                    <a:bodyPr/>
                    <a:lstStyle/>
                    <a:p>
                      <a:pPr>
                        <a:defRPr sz="1000">
                          <a:solidFill>
                            <a:srgbClr val="1A1A1A"/>
                          </a:solidFill>
                          <a:latin typeface="Arial"/>
                        </a:defRPr>
                      </a:pPr>
                      <a:r>
                        <a:t>God-given abilities present from birth/creation</a:t>
                      </a:r>
                    </a:p>
                  </a:txBody>
                  <a:tcPr>
                    <a:solidFill>
                      <a:srgbClr val="FFFFFF"/>
                    </a:solidFill>
                  </a:tcPr>
                </a:tc>
              </a:tr>
              <a:tr h="548640">
                <a:tc>
                  <a:txBody>
                    <a:bodyPr/>
                    <a:lstStyle/>
                    <a:p>
                      <a:pPr>
                        <a:defRPr sz="1000">
                          <a:solidFill>
                            <a:srgbClr val="1A1A1A"/>
                          </a:solidFill>
                          <a:latin typeface="Arial"/>
                        </a:defRPr>
                      </a:pPr>
                      <a:r>
                        <a:t>Received</a:t>
                      </a:r>
                    </a:p>
                  </a:txBody>
                  <a:tcPr>
                    <a:solidFill>
                      <a:srgbClr val="FFF9E6"/>
                    </a:solidFill>
                  </a:tcPr>
                </a:tc>
                <a:tc>
                  <a:txBody>
                    <a:bodyPr/>
                    <a:lstStyle/>
                    <a:p>
                      <a:pPr>
                        <a:defRPr sz="1000">
                          <a:solidFill>
                            <a:srgbClr val="1A1A1A"/>
                          </a:solidFill>
                          <a:latin typeface="Arial"/>
                        </a:defRPr>
                      </a:pPr>
                      <a:r>
                        <a:t>When you are born again (1 Cor 12:7,11)</a:t>
                      </a:r>
                    </a:p>
                  </a:txBody>
                  <a:tcPr>
                    <a:solidFill>
                      <a:srgbClr val="FFFFFF"/>
                    </a:solidFill>
                  </a:tcPr>
                </a:tc>
                <a:tc>
                  <a:txBody>
                    <a:bodyPr/>
                    <a:lstStyle/>
                    <a:p>
                      <a:pPr>
                        <a:defRPr sz="1000">
                          <a:solidFill>
                            <a:srgbClr val="1A1A1A"/>
                          </a:solidFill>
                          <a:latin typeface="Arial"/>
                        </a:defRPr>
                      </a:pPr>
                      <a:r>
                        <a:t>Innate — you have always had them</a:t>
                      </a:r>
                    </a:p>
                  </a:txBody>
                  <a:tcPr>
                    <a:solidFill>
                      <a:srgbClr val="FFFFFF"/>
                    </a:solidFill>
                  </a:tcPr>
                </a:tc>
              </a:tr>
              <a:tr h="548640">
                <a:tc>
                  <a:txBody>
                    <a:bodyPr/>
                    <a:lstStyle/>
                    <a:p>
                      <a:pPr>
                        <a:defRPr sz="1000">
                          <a:solidFill>
                            <a:srgbClr val="1A1A1A"/>
                          </a:solidFill>
                          <a:latin typeface="Arial"/>
                        </a:defRPr>
                      </a:pPr>
                      <a:r>
                        <a:t>How it works</a:t>
                      </a:r>
                    </a:p>
                  </a:txBody>
                  <a:tcPr>
                    <a:solidFill>
                      <a:srgbClr val="FFF9E6"/>
                    </a:solidFill>
                  </a:tcPr>
                </a:tc>
                <a:tc>
                  <a:txBody>
                    <a:bodyPr/>
                    <a:lstStyle/>
                    <a:p>
                      <a:pPr>
                        <a:defRPr sz="1000">
                          <a:solidFill>
                            <a:srgbClr val="1A1A1A"/>
                          </a:solidFill>
                          <a:latin typeface="Arial"/>
                        </a:defRPr>
                      </a:pPr>
                      <a:r>
                        <a:t>Supernaturally by the power of the Holy Spirit</a:t>
                      </a:r>
                    </a:p>
                  </a:txBody>
                  <a:tcPr>
                    <a:solidFill>
                      <a:srgbClr val="FFFFFF"/>
                    </a:solidFill>
                  </a:tcPr>
                </a:tc>
                <a:tc>
                  <a:txBody>
                    <a:bodyPr/>
                    <a:lstStyle/>
                    <a:p>
                      <a:pPr>
                        <a:defRPr sz="1000">
                          <a:solidFill>
                            <a:srgbClr val="1A1A1A"/>
                          </a:solidFill>
                          <a:latin typeface="Arial"/>
                        </a:defRPr>
                      </a:pPr>
                      <a:r>
                        <a:t>Naturally through skill and practice</a:t>
                      </a:r>
                    </a:p>
                  </a:txBody>
                  <a:tcPr>
                    <a:solidFill>
                      <a:srgbClr val="FFFFFF"/>
                    </a:solidFill>
                  </a:tcPr>
                </a:tc>
              </a:tr>
              <a:tr h="548640">
                <a:tc>
                  <a:txBody>
                    <a:bodyPr/>
                    <a:lstStyle/>
                    <a:p>
                      <a:pPr>
                        <a:defRPr sz="1000">
                          <a:solidFill>
                            <a:srgbClr val="1A1A1A"/>
                          </a:solidFill>
                          <a:latin typeface="Arial"/>
                        </a:defRPr>
                      </a:pPr>
                      <a:r>
                        <a:t>Purpose</a:t>
                      </a:r>
                    </a:p>
                  </a:txBody>
                  <a:tcPr>
                    <a:solidFill>
                      <a:srgbClr val="FFF9E6"/>
                    </a:solidFill>
                  </a:tcPr>
                </a:tc>
                <a:tc>
                  <a:txBody>
                    <a:bodyPr/>
                    <a:lstStyle/>
                    <a:p>
                      <a:pPr>
                        <a:defRPr sz="1000">
                          <a:solidFill>
                            <a:srgbClr val="1A1A1A"/>
                          </a:solidFill>
                          <a:latin typeface="Arial"/>
                        </a:defRPr>
                      </a:pPr>
                      <a:r>
                        <a:t>To build up the body of Christ (1 Cor 12:7; Eph 4:12)</a:t>
                      </a:r>
                    </a:p>
                  </a:txBody>
                  <a:tcPr>
                    <a:solidFill>
                      <a:srgbClr val="FFFFFF"/>
                    </a:solidFill>
                  </a:tcPr>
                </a:tc>
                <a:tc>
                  <a:txBody>
                    <a:bodyPr/>
                    <a:lstStyle/>
                    <a:p>
                      <a:pPr>
                        <a:defRPr sz="1000">
                          <a:solidFill>
                            <a:srgbClr val="1A1A1A"/>
                          </a:solidFill>
                          <a:latin typeface="Arial"/>
                        </a:defRPr>
                      </a:pPr>
                      <a:r>
                        <a:t>Any area of life (work, hobbies, creativity)</a:t>
                      </a:r>
                    </a:p>
                  </a:txBody>
                  <a:tcPr>
                    <a:solidFill>
                      <a:srgbClr val="FFFFFF"/>
                    </a:solidFill>
                  </a:tcPr>
                </a:tc>
              </a:tr>
            </a:tbl>
          </a:graphicData>
        </a:graphic>
      </p:graphicFrame>
      <p:sp>
        <p:nvSpPr>
          <p:cNvPr id="5" name="TextBox 4"/>
          <p:cNvSpPr txBox="1"/>
          <p:nvPr/>
        </p:nvSpPr>
        <p:spPr>
          <a:xfrm>
            <a:off x="457200" y="3794760"/>
            <a:ext cx="8229600" cy="731520"/>
          </a:xfrm>
          <a:prstGeom prst="rect">
            <a:avLst/>
          </a:prstGeom>
          <a:noFill/>
        </p:spPr>
        <p:txBody>
          <a:bodyPr wrap="square">
            <a:spAutoFit/>
          </a:bodyPr>
          <a:lstStyle/>
          <a:p>
            <a:pPr algn="l">
              <a:defRPr sz="1100" b="1">
                <a:solidFill>
                  <a:srgbClr val="1A1A1A"/>
                </a:solidFill>
                <a:latin typeface="Arial"/>
              </a:defRPr>
            </a:pPr>
            <a:r>
              <a:t>Key Truth: You can have natural talents without the Holy Spirit — but you cannot have spiritual gifts without Him. God often anoints and supercharges our natural talents with spiritual gifts.</a:t>
            </a:r>
          </a:p>
        </p:txBody>
      </p:sp>
      <p:sp>
        <p:nvSpPr>
          <p:cNvPr id="6" name="TextBox 5"/>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7" name="TextBox 6"/>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8" name="TextBox 7"/>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pic>
        <p:nvPicPr>
          <p:cNvPr id="9" name="Picture 8" descr="image.png"/>
          <p:cNvPicPr>
            <a:picLocks noChangeAspect="1"/>
          </p:cNvPicPr>
          <p:nvPr/>
        </p:nvPicPr>
        <p:blipFill>
          <a:blip r:embed="rId2"/>
          <a:stretch>
            <a:fillRect/>
          </a:stretch>
        </p:blipFill>
        <p:spPr>
          <a:xfrm>
            <a:off x="7955279" y="109728"/>
            <a:ext cx="777240" cy="7772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8229600" cy="1905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457200"/>
          </a:xfrm>
          <a:prstGeom prst="rect">
            <a:avLst/>
          </a:prstGeom>
          <a:noFill/>
        </p:spPr>
        <p:txBody>
          <a:bodyPr wrap="square">
            <a:spAutoFit/>
          </a:bodyPr>
          <a:lstStyle/>
          <a:p>
            <a:pPr algn="l">
              <a:defRPr sz="2200" b="1">
                <a:solidFill>
                  <a:srgbClr val="1A1A1A"/>
                </a:solidFill>
                <a:latin typeface="Arial"/>
              </a:defRPr>
            </a:pPr>
            <a:r>
              <a:t>A PLACE TO NOTE DOWN BREADCRUMBS</a:t>
            </a:r>
          </a:p>
        </p:txBody>
      </p:sp>
      <p:sp>
        <p:nvSpPr>
          <p:cNvPr id="4" name="TextBox 3"/>
          <p:cNvSpPr txBox="1"/>
          <p:nvPr/>
        </p:nvSpPr>
        <p:spPr>
          <a:xfrm>
            <a:off x="457200" y="1005840"/>
            <a:ext cx="8229600" cy="731520"/>
          </a:xfrm>
          <a:prstGeom prst="rect">
            <a:avLst/>
          </a:prstGeom>
          <a:noFill/>
        </p:spPr>
        <p:txBody>
          <a:bodyPr wrap="square">
            <a:spAutoFit/>
          </a:bodyPr>
          <a:lstStyle/>
          <a:p>
            <a:pPr algn="l">
              <a:defRPr sz="1400" b="0">
                <a:solidFill>
                  <a:srgbClr val="1A1A1A"/>
                </a:solidFill>
                <a:latin typeface="Arial"/>
              </a:defRPr>
            </a:pPr>
            <a:r>
              <a:t>Journal your journey. What is God stirring in you this week? What gift is becoming clearer? Who can you encourage with their gift?</a:t>
            </a:r>
          </a:p>
        </p:txBody>
      </p:sp>
      <p:sp>
        <p:nvSpPr>
          <p:cNvPr id="5" name="TextBox 4"/>
          <p:cNvSpPr txBox="1"/>
          <p:nvPr/>
        </p:nvSpPr>
        <p:spPr>
          <a:xfrm>
            <a:off x="457200" y="2011680"/>
            <a:ext cx="8229600" cy="457200"/>
          </a:xfrm>
          <a:prstGeom prst="rect">
            <a:avLst/>
          </a:prstGeom>
          <a:noFill/>
        </p:spPr>
        <p:txBody>
          <a:bodyPr wrap="square">
            <a:spAutoFit/>
          </a:bodyPr>
          <a:lstStyle/>
          <a:p>
            <a:pPr algn="l">
              <a:defRPr sz="1800" b="1">
                <a:solidFill>
                  <a:srgbClr val="E6392D"/>
                </a:solidFill>
                <a:latin typeface="Arial"/>
              </a:defRPr>
            </a:pPr>
            <a:r>
              <a:t>REAL COMMUNITY. REAL GROWTH. REAL LOVE.</a:t>
            </a:r>
          </a:p>
        </p:txBody>
      </p:sp>
      <p:sp>
        <p:nvSpPr>
          <p:cNvPr id="6" name="TextBox 5"/>
          <p:cNvSpPr txBox="1"/>
          <p:nvPr/>
        </p:nvSpPr>
        <p:spPr>
          <a:xfrm>
            <a:off x="457200" y="2560320"/>
            <a:ext cx="8229600" cy="1188720"/>
          </a:xfrm>
          <a:prstGeom prst="rect">
            <a:avLst/>
          </a:prstGeom>
          <a:noFill/>
        </p:spPr>
        <p:txBody>
          <a:bodyPr wrap="square">
            <a:spAutoFit/>
          </a:bodyPr>
          <a:lstStyle/>
          <a:p>
            <a:pPr algn="l">
              <a:defRPr sz="1200" b="0">
                <a:solidFill>
                  <a:srgbClr val="1A1A1A"/>
                </a:solidFill>
                <a:latin typeface="Arial"/>
              </a:defRPr>
            </a:pPr>
            <a:r>
              <a:t>At the heart of Church Three Sixteen is the life-changing truth of John 3:16 — “For God so loved the world…” Our Discipleship Programme is built on that same love. It’s not about rules, performance, or pressure — it’s an invitation to come as you are and grow closer to Jesus through simple, sustainable daily rhythms of Scripture, prayer, and real community.</a:t>
            </a:r>
          </a:p>
        </p:txBody>
      </p:sp>
      <p:sp>
        <p:nvSpPr>
          <p:cNvPr id="7" name="TextBox 6"/>
          <p:cNvSpPr txBox="1"/>
          <p:nvPr/>
        </p:nvSpPr>
        <p:spPr>
          <a:xfrm>
            <a:off x="457200" y="3840480"/>
            <a:ext cx="8229600" cy="365760"/>
          </a:xfrm>
          <a:prstGeom prst="rect">
            <a:avLst/>
          </a:prstGeom>
          <a:noFill/>
        </p:spPr>
        <p:txBody>
          <a:bodyPr wrap="square">
            <a:spAutoFit/>
          </a:bodyPr>
          <a:lstStyle/>
          <a:p>
            <a:pPr algn="l">
              <a:defRPr sz="1300" b="1">
                <a:solidFill>
                  <a:srgbClr val="1A1A1A"/>
                </a:solidFill>
                <a:latin typeface="Arial"/>
              </a:defRPr>
            </a:pPr>
            <a:r>
              <a:t>Come and see for yourself every Sunday at 11:30am at C316.</a:t>
            </a:r>
          </a:p>
        </p:txBody>
      </p:sp>
      <p:pic>
        <p:nvPicPr>
          <p:cNvPr id="8" name="Picture 7" descr="c316-logo.png"/>
          <p:cNvPicPr>
            <a:picLocks noChangeAspect="1"/>
          </p:cNvPicPr>
          <p:nvPr/>
        </p:nvPicPr>
        <p:blipFill>
          <a:blip r:embed="rId2"/>
          <a:stretch>
            <a:fillRect/>
          </a:stretch>
        </p:blipFill>
        <p:spPr>
          <a:xfrm>
            <a:off x="7955279" y="109728"/>
            <a:ext cx="777240" cy="777240"/>
          </a:xfrm>
          <a:prstGeom prst="rect">
            <a:avLst/>
          </a:prstGeom>
        </p:spPr>
      </p:pic>
      <p:sp>
        <p:nvSpPr>
          <p:cNvPr id="9" name="TextBox 8"/>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10" name="TextBox 9"/>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11" name="TextBox 10"/>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  •  #DISCIPLEOFCHRIST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316-logo.png"/>
          <p:cNvPicPr>
            <a:picLocks noChangeAspect="1"/>
          </p:cNvPicPr>
          <p:nvPr/>
        </p:nvPicPr>
        <p:blipFill>
          <a:blip r:embed="rId2"/>
          <a:stretch>
            <a:fillRect/>
          </a:stretch>
        </p:blipFill>
        <p:spPr>
          <a:xfrm>
            <a:off x="3566160" y="731520"/>
            <a:ext cx="1645920" cy="1645920"/>
          </a:xfrm>
          <a:prstGeom prst="rect">
            <a:avLst/>
          </a:prstGeom>
        </p:spPr>
      </p:pic>
      <p:sp>
        <p:nvSpPr>
          <p:cNvPr id="3" name="TextBox 2"/>
          <p:cNvSpPr txBox="1"/>
          <p:nvPr/>
        </p:nvSpPr>
        <p:spPr>
          <a:xfrm>
            <a:off x="457200" y="2560320"/>
            <a:ext cx="8229600" cy="731520"/>
          </a:xfrm>
          <a:prstGeom prst="rect">
            <a:avLst/>
          </a:prstGeom>
          <a:noFill/>
        </p:spPr>
        <p:txBody>
          <a:bodyPr wrap="square">
            <a:spAutoFit/>
          </a:bodyPr>
          <a:lstStyle/>
          <a:p>
            <a:pPr algn="ctr">
              <a:defRPr sz="4800" b="1">
                <a:solidFill>
                  <a:srgbClr val="E6392D"/>
                </a:solidFill>
                <a:latin typeface="Arial Black"/>
              </a:defRPr>
            </a:pPr>
            <a:r>
              <a:t>STIR</a:t>
            </a:r>
          </a:p>
        </p:txBody>
      </p:sp>
      <p:sp>
        <p:nvSpPr>
          <p:cNvPr id="4" name="TextBox 3"/>
          <p:cNvSpPr txBox="1"/>
          <p:nvPr/>
        </p:nvSpPr>
        <p:spPr>
          <a:xfrm>
            <a:off x="457200" y="3383280"/>
            <a:ext cx="8229600" cy="457200"/>
          </a:xfrm>
          <a:prstGeom prst="rect">
            <a:avLst/>
          </a:prstGeom>
          <a:noFill/>
        </p:spPr>
        <p:txBody>
          <a:bodyPr wrap="square">
            <a:spAutoFit/>
          </a:bodyPr>
          <a:lstStyle/>
          <a:p>
            <a:pPr algn="ctr">
              <a:defRPr sz="1800" b="0">
                <a:solidFill>
                  <a:srgbClr val="1A1A1A"/>
                </a:solidFill>
                <a:latin typeface="Arial"/>
              </a:defRPr>
            </a:pPr>
            <a:r>
              <a:t>Fan into flame the gift of God, which is in you…</a:t>
            </a:r>
          </a:p>
        </p:txBody>
      </p:sp>
      <p:sp>
        <p:nvSpPr>
          <p:cNvPr id="5" name="TextBox 4"/>
          <p:cNvSpPr txBox="1"/>
          <p:nvPr/>
        </p:nvSpPr>
        <p:spPr>
          <a:xfrm>
            <a:off x="457200" y="3931920"/>
            <a:ext cx="8229600" cy="365760"/>
          </a:xfrm>
          <a:prstGeom prst="rect">
            <a:avLst/>
          </a:prstGeom>
          <a:noFill/>
        </p:spPr>
        <p:txBody>
          <a:bodyPr wrap="square">
            <a:spAutoFit/>
          </a:bodyPr>
          <a:lstStyle/>
          <a:p>
            <a:pPr algn="ctr">
              <a:defRPr sz="1400" b="0">
                <a:solidFill>
                  <a:srgbClr val="1A1A1A"/>
                </a:solidFill>
                <a:latin typeface="Arial"/>
              </a:defRPr>
            </a:pPr>
            <a:r>
              <a:t>2 Timothy 1:6  •  Spring 2026  •  C316</a:t>
            </a:r>
          </a:p>
        </p:txBody>
      </p:sp>
      <p:sp>
        <p:nvSpPr>
          <p:cNvPr id="6" name="TextBox 5"/>
          <p:cNvSpPr txBox="1"/>
          <p:nvPr/>
        </p:nvSpPr>
        <p:spPr>
          <a:xfrm>
            <a:off x="365760" y="4709160"/>
            <a:ext cx="320040" cy="320040"/>
          </a:xfrm>
          <a:prstGeom prst="rect">
            <a:avLst/>
          </a:prstGeom>
          <a:noFill/>
        </p:spPr>
        <p:txBody>
          <a:bodyPr wrap="none">
            <a:spAutoFit/>
          </a:bodyPr>
          <a:lstStyle/>
          <a:p>
            <a:pPr>
              <a:defRPr sz="1400" b="1">
                <a:solidFill>
                  <a:srgbClr val="E6392D"/>
                </a:solidFill>
                <a:latin typeface="Arial Black"/>
              </a:defRPr>
            </a:pPr>
            <a:r>
              <a:t>#</a:t>
            </a:r>
          </a:p>
        </p:txBody>
      </p:sp>
      <p:sp>
        <p:nvSpPr>
          <p:cNvPr id="7" name="TextBox 6"/>
          <p:cNvSpPr txBox="1"/>
          <p:nvPr/>
        </p:nvSpPr>
        <p:spPr>
          <a:xfrm>
            <a:off x="640080" y="4709160"/>
            <a:ext cx="3200400" cy="320040"/>
          </a:xfrm>
          <a:prstGeom prst="rect">
            <a:avLst/>
          </a:prstGeom>
          <a:noFill/>
        </p:spPr>
        <p:txBody>
          <a:bodyPr wrap="none">
            <a:spAutoFit/>
          </a:bodyPr>
          <a:lstStyle/>
          <a:p>
            <a:pPr>
              <a:defRPr sz="1000" b="1">
                <a:solidFill>
                  <a:srgbClr val="1A1A1A"/>
                </a:solidFill>
                <a:latin typeface="Arial"/>
              </a:defRPr>
            </a:pPr>
            <a:r>
              <a:t>DISCIPLEOFCHRIST</a:t>
            </a:r>
          </a:p>
        </p:txBody>
      </p:sp>
      <p:sp>
        <p:nvSpPr>
          <p:cNvPr id="8" name="TextBox 7"/>
          <p:cNvSpPr txBox="1"/>
          <p:nvPr/>
        </p:nvSpPr>
        <p:spPr>
          <a:xfrm>
            <a:off x="3840480" y="4709160"/>
            <a:ext cx="5029200" cy="320040"/>
          </a:xfrm>
          <a:prstGeom prst="rect">
            <a:avLst/>
          </a:prstGeom>
          <a:noFill/>
        </p:spPr>
        <p:txBody>
          <a:bodyPr wrap="none">
            <a:spAutoFit/>
          </a:bodyPr>
          <a:lstStyle/>
          <a:p>
            <a:pPr>
              <a:defRPr sz="900">
                <a:solidFill>
                  <a:srgbClr val="666666"/>
                </a:solidFill>
                <a:latin typeface="Arial"/>
              </a:defRPr>
            </a:pPr>
            <a:r>
              <a:t>CHURCHTHREESIXTEEN.CO.UK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